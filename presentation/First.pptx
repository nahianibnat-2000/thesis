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Open Sans Bold" charset="1" panose="00000000000000000000"/>
      <p:regular r:id="rId20"/>
    </p:embeddedFont>
    <p:embeddedFont>
      <p:font typeface="Open Sans" charset="1" panose="00000000000000000000"/>
      <p:regular r:id="rId21"/>
    </p:embeddedFont>
    <p:embeddedFont>
      <p:font typeface="Open Sans Italics" charset="1" panose="00000000000000000000"/>
      <p:regular r:id="rId22"/>
    </p:embeddedFont>
    <p:embeddedFont>
      <p:font typeface="Open Sans Bold Italics" charset="1" panose="00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embeddings/oleObject2.bin" Type="http://schemas.openxmlformats.org/officeDocument/2006/relationships/oleObjec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embeddings/oleObject3.bin" Type="http://schemas.openxmlformats.org/officeDocument/2006/relationships/oleObjec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531571" y="1526410"/>
            <a:ext cx="0" cy="7234180"/>
          </a:xfrm>
          <a:prstGeom prst="line">
            <a:avLst/>
          </a:prstGeom>
          <a:ln cap="flat" w="9525">
            <a:solidFill>
              <a:srgbClr val="27272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6816849" y="1526410"/>
            <a:ext cx="0" cy="7234180"/>
          </a:xfrm>
          <a:prstGeom prst="line">
            <a:avLst/>
          </a:prstGeom>
          <a:ln cap="flat" w="9525">
            <a:solidFill>
              <a:srgbClr val="27272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>
            <a:off x="1531571" y="3053945"/>
            <a:ext cx="15280515" cy="0"/>
          </a:xfrm>
          <a:prstGeom prst="line">
            <a:avLst/>
          </a:prstGeom>
          <a:ln cap="flat" w="9525">
            <a:solidFill>
              <a:srgbClr val="27272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H="true" flipV="true">
            <a:off x="1531571" y="8760590"/>
            <a:ext cx="15280515" cy="0"/>
          </a:xfrm>
          <a:prstGeom prst="line">
            <a:avLst/>
          </a:prstGeom>
          <a:ln cap="flat" w="9525">
            <a:solidFill>
              <a:srgbClr val="27272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H="true">
            <a:off x="1531571" y="1526410"/>
            <a:ext cx="15280515" cy="0"/>
          </a:xfrm>
          <a:prstGeom prst="line">
            <a:avLst/>
          </a:prstGeom>
          <a:ln cap="flat" w="9525">
            <a:solidFill>
              <a:srgbClr val="27272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3814730" y="1912352"/>
            <a:ext cx="10773229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Do Politici</a:t>
            </a:r>
            <a:r>
              <a:rPr lang="en-US" b="true" sz="3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ans' Words Have a Dollar Value?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53921" y="5797462"/>
            <a:ext cx="13180157" cy="2575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522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Climat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 speeches → sovereign green bond yields in India &amp; Indonesia</a:t>
            </a:r>
          </a:p>
          <a:p>
            <a:pPr algn="l" marL="647700" indent="-323850" lvl="1">
              <a:lnSpc>
                <a:spcPts val="522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Gap: existing literature uses monthly data; politics moves daily</a:t>
            </a:r>
          </a:p>
          <a:p>
            <a:pPr algn="l" marL="647700" indent="-323850" lvl="1">
              <a:lnSpc>
                <a:spcPts val="522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Answer: signaling noise costs money; raw sentiment does not</a:t>
            </a:r>
          </a:p>
          <a:p>
            <a:pPr algn="l">
              <a:lnSpc>
                <a:spcPts val="522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531571" y="9451153"/>
            <a:ext cx="843313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Nahian Ibnat · MA Economics, Data &amp; Policy · CEU · 2026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29446" y="454474"/>
            <a:ext cx="348528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Title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98890" y="3987395"/>
            <a:ext cx="14404910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D</a:t>
            </a:r>
            <a:r>
              <a:rPr lang="en-US" sz="2800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oes daily political climate sentiment influence the Greenium </a:t>
            </a:r>
            <a:r>
              <a:rPr lang="en-US" sz="2800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in India &amp; Indonesia?</a:t>
            </a:r>
          </a:p>
          <a:p>
            <a:pPr algn="ctr">
              <a:lnSpc>
                <a:spcPts val="392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6476998" y="303661"/>
            <a:ext cx="156460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28462" y="1311275"/>
            <a:ext cx="16913140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When Finance Ministry s</a:t>
            </a:r>
            <a:r>
              <a:rPr lang="en-US" b="true" sz="3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ays "green" but 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Energy Ministry says "coal"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90024" y="4068773"/>
            <a:ext cx="7894897" cy="478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reen bonds = sovereign loans pledged to green projects</a:t>
            </a:r>
          </a:p>
          <a:p>
            <a:pPr algn="l">
              <a:lnSpc>
                <a:spcPts val="4200"/>
              </a:lnSpc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Greenium = yield discount investors accept for the green label</a:t>
            </a:r>
          </a:p>
          <a:p>
            <a:pPr algn="l">
              <a:lnSpc>
                <a:spcPts val="4200"/>
              </a:lnSpc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India, Indonesia: large coal economies issuing green bonds — structural paradox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29446" y="454474"/>
            <a:ext cx="348528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Motivation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476998" y="303661"/>
            <a:ext cx="156460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2/9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235809" y="3600450"/>
            <a:ext cx="5744843" cy="2163620"/>
            <a:chOff x="0" y="0"/>
            <a:chExt cx="1513045" cy="5698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13045" cy="569842"/>
            </a:xfrm>
            <a:custGeom>
              <a:avLst/>
              <a:gdLst/>
              <a:ahLst/>
              <a:cxnLst/>
              <a:rect r="r" b="b" t="t" l="l"/>
              <a:pathLst>
                <a:path h="569842" w="1513045">
                  <a:moveTo>
                    <a:pt x="0" y="0"/>
                  </a:moveTo>
                  <a:lnTo>
                    <a:pt x="1513045" y="0"/>
                  </a:lnTo>
                  <a:lnTo>
                    <a:pt x="1513045" y="569842"/>
                  </a:lnTo>
                  <a:lnTo>
                    <a:pt x="0" y="569842"/>
                  </a:lnTo>
                  <a:close/>
                </a:path>
              </a:pathLst>
            </a:custGeom>
            <a:solidFill>
              <a:srgbClr val="DDDDD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13045" cy="607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049610" y="2041525"/>
            <a:ext cx="7991991" cy="799199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9C8A6C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1685473" y="3831995"/>
            <a:ext cx="7894897" cy="1779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2"/>
              </a:lnSpc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Credibility Premium</a:t>
            </a:r>
          </a:p>
          <a:p>
            <a:pPr algn="l">
              <a:lnSpc>
                <a:spcPts val="4872"/>
              </a:lnSpc>
            </a:pPr>
            <a:r>
              <a:rPr lang="en-US" sz="2800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Consistent signals → </a:t>
            </a:r>
          </a:p>
          <a:p>
            <a:pPr algn="l">
              <a:lnSpc>
                <a:spcPts val="4872"/>
              </a:lnSpc>
            </a:pPr>
            <a:r>
              <a:rPr lang="en-US" sz="2800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lower borrowing costs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235809" y="6247406"/>
            <a:ext cx="5744843" cy="2163620"/>
            <a:chOff x="0" y="0"/>
            <a:chExt cx="1513045" cy="56984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13045" cy="569842"/>
            </a:xfrm>
            <a:custGeom>
              <a:avLst/>
              <a:gdLst/>
              <a:ahLst/>
              <a:cxnLst/>
              <a:rect r="r" b="b" t="t" l="l"/>
              <a:pathLst>
                <a:path h="569842" w="1513045">
                  <a:moveTo>
                    <a:pt x="0" y="0"/>
                  </a:moveTo>
                  <a:lnTo>
                    <a:pt x="1513045" y="0"/>
                  </a:lnTo>
                  <a:lnTo>
                    <a:pt x="1513045" y="569842"/>
                  </a:lnTo>
                  <a:lnTo>
                    <a:pt x="0" y="569842"/>
                  </a:lnTo>
                  <a:close/>
                </a:path>
              </a:pathLst>
            </a:custGeom>
            <a:solidFill>
              <a:srgbClr val="DDDDD1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513045" cy="607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1685473" y="6461072"/>
            <a:ext cx="7894897" cy="2389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2"/>
              </a:lnSpc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Credibility Gap</a:t>
            </a:r>
          </a:p>
          <a:p>
            <a:pPr algn="l">
              <a:lnSpc>
                <a:spcPts val="4872"/>
              </a:lnSpc>
            </a:pPr>
            <a:r>
              <a:rPr lang="en-US" sz="2800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Contradictory signals → </a:t>
            </a:r>
          </a:p>
          <a:p>
            <a:pPr algn="l">
              <a:lnSpc>
                <a:spcPts val="4872"/>
              </a:lnSpc>
            </a:pPr>
            <a:r>
              <a:rPr lang="en-US" sz="2800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trust penalty</a:t>
            </a:r>
          </a:p>
          <a:p>
            <a:pPr algn="l">
              <a:lnSpc>
                <a:spcPts val="4872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4542839" y="9288473"/>
            <a:ext cx="7100888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804D0D"/>
                </a:solidFill>
                <a:latin typeface="Open Sans"/>
                <a:ea typeface="Open Sans"/>
                <a:cs typeface="Open Sans"/>
                <a:sym typeface="Open Sans"/>
              </a:rPr>
              <a:t>1 bp saving on $1bn bond = $1m/yr less interest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804D0D"/>
                </a:solidFill>
                <a:latin typeface="Open Sans"/>
                <a:ea typeface="Open Sans"/>
                <a:cs typeface="Open Sans"/>
                <a:sym typeface="Open Sans"/>
              </a:rPr>
              <a:t>Emerging markets need every bp they can get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36306" y="1797766"/>
            <a:ext cx="15040693" cy="103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Daily bond yields + Daily political sentiment, 2020–2024</a:t>
            </a:r>
          </a:p>
          <a:p>
            <a:pPr algn="l">
              <a:lnSpc>
                <a:spcPts val="399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2072088" y="6402698"/>
            <a:ext cx="12718180" cy="1918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4" indent="-323847" lvl="1">
              <a:lnSpc>
                <a:spcPts val="521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ond yields: Refinitiv — daily YTM, green vs. conventional twin</a:t>
            </a:r>
          </a:p>
          <a:p>
            <a:pPr algn="l" marL="647694" indent="-323847" lvl="1">
              <a:lnSpc>
                <a:spcPts val="521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Sentiment: GDELT + ClimateBERT — daily political climate tone</a:t>
            </a:r>
          </a:p>
          <a:p>
            <a:pPr algn="l" marL="647694" indent="-323847" lvl="1">
              <a:lnSpc>
                <a:spcPts val="521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Controls: VIX, CDS spreads, Exchange Rates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29446" y="454474"/>
            <a:ext cx="348528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476998" y="303661"/>
            <a:ext cx="156460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3/9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36306" y="3196218"/>
            <a:ext cx="4067606" cy="2163620"/>
            <a:chOff x="0" y="0"/>
            <a:chExt cx="1071304" cy="5698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71304" cy="569842"/>
            </a:xfrm>
            <a:custGeom>
              <a:avLst/>
              <a:gdLst/>
              <a:ahLst/>
              <a:cxnLst/>
              <a:rect r="r" b="b" t="t" l="l"/>
              <a:pathLst>
                <a:path h="569842" w="1071304">
                  <a:moveTo>
                    <a:pt x="0" y="0"/>
                  </a:moveTo>
                  <a:lnTo>
                    <a:pt x="1071304" y="0"/>
                  </a:lnTo>
                  <a:lnTo>
                    <a:pt x="1071304" y="569842"/>
                  </a:lnTo>
                  <a:lnTo>
                    <a:pt x="0" y="569842"/>
                  </a:lnTo>
                  <a:close/>
                </a:path>
              </a:pathLst>
            </a:custGeom>
            <a:solidFill>
              <a:srgbClr val="DDDDD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71304" cy="607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723774" y="3447179"/>
            <a:ext cx="3622834" cy="2066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1,455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Panel observations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6224000" y="3196218"/>
            <a:ext cx="6084275" cy="2163620"/>
            <a:chOff x="0" y="0"/>
            <a:chExt cx="1602443" cy="5698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02443" cy="569842"/>
            </a:xfrm>
            <a:custGeom>
              <a:avLst/>
              <a:gdLst/>
              <a:ahLst/>
              <a:cxnLst/>
              <a:rect r="r" b="b" t="t" l="l"/>
              <a:pathLst>
                <a:path h="569842" w="1602443">
                  <a:moveTo>
                    <a:pt x="0" y="0"/>
                  </a:moveTo>
                  <a:lnTo>
                    <a:pt x="1602443" y="0"/>
                  </a:lnTo>
                  <a:lnTo>
                    <a:pt x="1602443" y="569842"/>
                  </a:lnTo>
                  <a:lnTo>
                    <a:pt x="0" y="569842"/>
                  </a:lnTo>
                  <a:close/>
                </a:path>
              </a:pathLst>
            </a:custGeom>
            <a:solidFill>
              <a:srgbClr val="DDDDD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602443" cy="607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591386" y="3437654"/>
            <a:ext cx="5716889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Green–Conventional twin pairs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769339" y="3196218"/>
            <a:ext cx="4041858" cy="2163620"/>
            <a:chOff x="0" y="0"/>
            <a:chExt cx="1064522" cy="56984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64522" cy="569842"/>
            </a:xfrm>
            <a:custGeom>
              <a:avLst/>
              <a:gdLst/>
              <a:ahLst/>
              <a:cxnLst/>
              <a:rect r="r" b="b" t="t" l="l"/>
              <a:pathLst>
                <a:path h="569842" w="1064522">
                  <a:moveTo>
                    <a:pt x="0" y="0"/>
                  </a:moveTo>
                  <a:lnTo>
                    <a:pt x="1064522" y="0"/>
                  </a:lnTo>
                  <a:lnTo>
                    <a:pt x="1064522" y="569842"/>
                  </a:lnTo>
                  <a:lnTo>
                    <a:pt x="0" y="569842"/>
                  </a:lnTo>
                  <a:close/>
                </a:path>
              </a:pathLst>
            </a:custGeom>
            <a:solidFill>
              <a:srgbClr val="DDDDD1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64522" cy="607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3184575" y="3447179"/>
            <a:ext cx="4235329" cy="1543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120,000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GDELT Articles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938014"/>
            <a:ext cx="16230600" cy="153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Twin-bond DiD: green bond vs. maturity-matched conventional twin</a:t>
            </a:r>
          </a:p>
          <a:p>
            <a:pPr algn="l">
              <a:lnSpc>
                <a:spcPts val="399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893445" y="3325489"/>
            <a:ext cx="15181307" cy="3890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4" indent="-323847" lvl="1">
              <a:lnSpc>
                <a:spcPts val="521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Same</a:t>
            </a: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issuer, same currency, same maturity → default &amp; currency risk cancel out</a:t>
            </a:r>
          </a:p>
          <a:p>
            <a:pPr algn="l" marL="647694" indent="-323847" lvl="1">
              <a:lnSpc>
                <a:spcPts val="521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Greenium = YTM</a:t>
            </a: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green</a:t>
            </a: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− YTM</a:t>
            </a: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conventional</a:t>
            </a: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is the outcome</a:t>
            </a:r>
          </a:p>
          <a:p>
            <a:pPr algn="l" marL="647694" indent="-323847" lvl="1">
              <a:lnSpc>
                <a:spcPts val="521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Staggered DiD: </a:t>
            </a:r>
            <a:r>
              <a:rPr lang="en-US" sz="2999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Events </a:t>
            </a:r>
          </a:p>
          <a:p>
            <a:pPr algn="l">
              <a:lnSpc>
                <a:spcPts val="5219"/>
              </a:lnSpc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- India Jan 2023 (green bond auction); </a:t>
            </a:r>
          </a:p>
          <a:p>
            <a:pPr algn="l">
              <a:lnSpc>
                <a:spcPts val="5219"/>
              </a:lnSpc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- </a:t>
            </a: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Indonesia Nov 2022 (JETP/G20)</a:t>
            </a:r>
          </a:p>
          <a:p>
            <a:pPr algn="l" marL="647694" indent="-323847" lvl="1">
              <a:lnSpc>
                <a:spcPts val="521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Event study (±10 weeks) validates parallel trends + tests pre-announcement drift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29446" y="454474"/>
            <a:ext cx="348528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Method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476998" y="303661"/>
            <a:ext cx="156460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4/9</a:t>
            </a:r>
          </a:p>
        </p:txBody>
      </p:sp>
      <p:sp>
        <p:nvSpPr>
          <p:cNvPr name="AutoShape 6" id="6"/>
          <p:cNvSpPr/>
          <p:nvPr/>
        </p:nvSpPr>
        <p:spPr>
          <a:xfrm flipH="true">
            <a:off x="2734919" y="7993240"/>
            <a:ext cx="12314991" cy="0"/>
          </a:xfrm>
          <a:prstGeom prst="line">
            <a:avLst/>
          </a:prstGeom>
          <a:ln cap="flat" w="9525">
            <a:solidFill>
              <a:srgbClr val="804D0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3297485" y="8307943"/>
            <a:ext cx="16644067" cy="1471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All </a:t>
            </a: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regressors first-differenced and Standardized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Standard errors are HC3 heteroskedasticity-robust throughout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Signaling noise = std of daily article scores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21848" y="1994308"/>
            <a:ext cx="16230600" cy="103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Noise is priced; sentiment alone is not</a:t>
            </a:r>
          </a:p>
          <a:p>
            <a:pPr algn="l">
              <a:lnSpc>
                <a:spcPts val="399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329446" y="454474"/>
            <a:ext cx="348528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Main Results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476998" y="303661"/>
            <a:ext cx="156460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5/9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510724" y="2983755"/>
            <a:ext cx="8295300" cy="3057861"/>
            <a:chOff x="0" y="0"/>
            <a:chExt cx="1020340" cy="3761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20340" cy="376124"/>
            </a:xfrm>
            <a:custGeom>
              <a:avLst/>
              <a:gdLst/>
              <a:ahLst/>
              <a:cxnLst/>
              <a:rect r="r" b="b" t="t" l="l"/>
              <a:pathLst>
                <a:path h="376124" w="1020340">
                  <a:moveTo>
                    <a:pt x="101168" y="0"/>
                  </a:moveTo>
                  <a:lnTo>
                    <a:pt x="919172" y="0"/>
                  </a:lnTo>
                  <a:cubicBezTo>
                    <a:pt x="975045" y="0"/>
                    <a:pt x="1020340" y="45294"/>
                    <a:pt x="1020340" y="101168"/>
                  </a:cubicBezTo>
                  <a:lnTo>
                    <a:pt x="1020340" y="274956"/>
                  </a:lnTo>
                  <a:cubicBezTo>
                    <a:pt x="1020340" y="330829"/>
                    <a:pt x="975045" y="376124"/>
                    <a:pt x="919172" y="376124"/>
                  </a:cubicBezTo>
                  <a:lnTo>
                    <a:pt x="101168" y="376124"/>
                  </a:lnTo>
                  <a:cubicBezTo>
                    <a:pt x="45294" y="376124"/>
                    <a:pt x="0" y="330829"/>
                    <a:pt x="0" y="274956"/>
                  </a:cubicBezTo>
                  <a:lnTo>
                    <a:pt x="0" y="101168"/>
                  </a:lnTo>
                  <a:cubicBezTo>
                    <a:pt x="0" y="45294"/>
                    <a:pt x="45294" y="0"/>
                    <a:pt x="101168" y="0"/>
                  </a:cubicBezTo>
                  <a:close/>
                </a:path>
              </a:pathLst>
            </a:custGeom>
            <a:solidFill>
              <a:srgbClr val="DDDDD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20340" cy="414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3276340"/>
            <a:ext cx="7733329" cy="2320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19"/>
              </a:lnSpc>
            </a:pPr>
            <a:r>
              <a:rPr lang="en-US" sz="2999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H1 — Positive sentiment → wider greenium</a:t>
            </a:r>
          </a:p>
          <a:p>
            <a:pPr algn="l">
              <a:lnSpc>
                <a:spcPts val="5219"/>
              </a:lnSpc>
            </a:pPr>
            <a:r>
              <a:rPr lang="en-US" b="true" sz="2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β = +0.0009, not statistically significant</a:t>
            </a:r>
          </a:p>
          <a:p>
            <a:pPr algn="l">
              <a:lnSpc>
                <a:spcPts val="3839"/>
              </a:lnSpc>
            </a:pPr>
            <a:r>
              <a:rPr lang="en-US" sz="2999">
                <a:solidFill>
                  <a:srgbClr val="FF2828"/>
                </a:solidFill>
                <a:latin typeface="Open Sans"/>
                <a:ea typeface="Open Sans"/>
                <a:cs typeface="Open Sans"/>
                <a:sym typeface="Open Sans"/>
              </a:rPr>
              <a:t>✗</a:t>
            </a: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null — sentiment doesn't move Greenium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10724" y="6445085"/>
            <a:ext cx="8295300" cy="3204570"/>
            <a:chOff x="0" y="0"/>
            <a:chExt cx="1020340" cy="394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20340" cy="394169"/>
            </a:xfrm>
            <a:custGeom>
              <a:avLst/>
              <a:gdLst/>
              <a:ahLst/>
              <a:cxnLst/>
              <a:rect r="r" b="b" t="t" l="l"/>
              <a:pathLst>
                <a:path h="394169" w="1020340">
                  <a:moveTo>
                    <a:pt x="101168" y="0"/>
                  </a:moveTo>
                  <a:lnTo>
                    <a:pt x="919172" y="0"/>
                  </a:lnTo>
                  <a:cubicBezTo>
                    <a:pt x="975045" y="0"/>
                    <a:pt x="1020340" y="45294"/>
                    <a:pt x="1020340" y="101168"/>
                  </a:cubicBezTo>
                  <a:lnTo>
                    <a:pt x="1020340" y="293001"/>
                  </a:lnTo>
                  <a:cubicBezTo>
                    <a:pt x="1020340" y="348875"/>
                    <a:pt x="975045" y="394169"/>
                    <a:pt x="919172" y="394169"/>
                  </a:cubicBezTo>
                  <a:lnTo>
                    <a:pt x="101168" y="394169"/>
                  </a:lnTo>
                  <a:cubicBezTo>
                    <a:pt x="45294" y="394169"/>
                    <a:pt x="0" y="348875"/>
                    <a:pt x="0" y="293001"/>
                  </a:cubicBezTo>
                  <a:lnTo>
                    <a:pt x="0" y="101168"/>
                  </a:lnTo>
                  <a:cubicBezTo>
                    <a:pt x="0" y="45294"/>
                    <a:pt x="45294" y="0"/>
                    <a:pt x="101168" y="0"/>
                  </a:cubicBezTo>
                  <a:close/>
                </a:path>
              </a:pathLst>
            </a:custGeom>
            <a:solidFill>
              <a:srgbClr val="DDDDD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20340" cy="4322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21848" y="6874534"/>
            <a:ext cx="7540181" cy="2575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19"/>
              </a:lnSpc>
            </a:pPr>
            <a:r>
              <a:rPr lang="en-US" sz="2999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H3 — Policy events → structural shift in greenium</a:t>
            </a:r>
          </a:p>
          <a:p>
            <a:pPr algn="l">
              <a:lnSpc>
                <a:spcPts val="5219"/>
              </a:lnSpc>
            </a:pPr>
            <a:r>
              <a:rPr lang="en-US" b="true" sz="2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Post = −0.0301 (JETP)</a:t>
            </a:r>
          </a:p>
          <a:p>
            <a:pPr algn="l">
              <a:lnSpc>
                <a:spcPts val="5219"/>
              </a:lnSpc>
            </a:pPr>
            <a:r>
              <a:rPr lang="en-US" sz="2999">
                <a:solidFill>
                  <a:srgbClr val="2E6417"/>
                </a:solidFill>
                <a:latin typeface="Open Sans"/>
                <a:ea typeface="Open Sans"/>
                <a:cs typeface="Open Sans"/>
                <a:sym typeface="Open Sans"/>
              </a:rPr>
              <a:t>✓ </a:t>
            </a: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Indonesia detected; India null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337148" y="2983755"/>
            <a:ext cx="8115300" cy="3057861"/>
            <a:chOff x="0" y="0"/>
            <a:chExt cx="998200" cy="37612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98200" cy="376124"/>
            </a:xfrm>
            <a:custGeom>
              <a:avLst/>
              <a:gdLst/>
              <a:ahLst/>
              <a:cxnLst/>
              <a:rect r="r" b="b" t="t" l="l"/>
              <a:pathLst>
                <a:path h="376124" w="998200">
                  <a:moveTo>
                    <a:pt x="103412" y="0"/>
                  </a:moveTo>
                  <a:lnTo>
                    <a:pt x="894788" y="0"/>
                  </a:lnTo>
                  <a:cubicBezTo>
                    <a:pt x="951901" y="0"/>
                    <a:pt x="998200" y="46299"/>
                    <a:pt x="998200" y="103412"/>
                  </a:cubicBezTo>
                  <a:lnTo>
                    <a:pt x="998200" y="272712"/>
                  </a:lnTo>
                  <a:cubicBezTo>
                    <a:pt x="998200" y="300138"/>
                    <a:pt x="987304" y="326441"/>
                    <a:pt x="967911" y="345835"/>
                  </a:cubicBezTo>
                  <a:cubicBezTo>
                    <a:pt x="948517" y="365228"/>
                    <a:pt x="922214" y="376124"/>
                    <a:pt x="894788" y="376124"/>
                  </a:cubicBezTo>
                  <a:lnTo>
                    <a:pt x="103412" y="376124"/>
                  </a:lnTo>
                  <a:cubicBezTo>
                    <a:pt x="46299" y="376124"/>
                    <a:pt x="0" y="329825"/>
                    <a:pt x="0" y="272712"/>
                  </a:cubicBezTo>
                  <a:lnTo>
                    <a:pt x="0" y="103412"/>
                  </a:lnTo>
                  <a:cubicBezTo>
                    <a:pt x="0" y="46299"/>
                    <a:pt x="46299" y="0"/>
                    <a:pt x="103412" y="0"/>
                  </a:cubicBezTo>
                  <a:close/>
                </a:path>
              </a:pathLst>
            </a:custGeom>
            <a:solidFill>
              <a:srgbClr val="DDDDD1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998200" cy="414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868985" y="3276340"/>
            <a:ext cx="7583463" cy="2575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19"/>
              </a:lnSpc>
            </a:pPr>
            <a:r>
              <a:rPr lang="en-US" sz="2999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H2 — Higher signaling noise → narrower greenium</a:t>
            </a:r>
          </a:p>
          <a:p>
            <a:pPr algn="l">
              <a:lnSpc>
                <a:spcPts val="5219"/>
              </a:lnSpc>
            </a:pPr>
            <a:r>
              <a:rPr lang="en-US" b="true" sz="2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β = −0.0031***</a:t>
            </a:r>
          </a:p>
          <a:p>
            <a:pPr algn="l">
              <a:lnSpc>
                <a:spcPts val="5219"/>
              </a:lnSpc>
            </a:pPr>
            <a:r>
              <a:rPr lang="en-US" sz="2999">
                <a:solidFill>
                  <a:srgbClr val="2E6417"/>
                </a:solidFill>
                <a:latin typeface="Open Sans"/>
                <a:ea typeface="Open Sans"/>
                <a:cs typeface="Open Sans"/>
                <a:sym typeface="Open Sans"/>
              </a:rPr>
              <a:t>✓ </a:t>
            </a: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significant at 1% 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337148" y="6471238"/>
            <a:ext cx="8115300" cy="3178417"/>
            <a:chOff x="0" y="0"/>
            <a:chExt cx="998200" cy="3909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98200" cy="390952"/>
            </a:xfrm>
            <a:custGeom>
              <a:avLst/>
              <a:gdLst/>
              <a:ahLst/>
              <a:cxnLst/>
              <a:rect r="r" b="b" t="t" l="l"/>
              <a:pathLst>
                <a:path h="390952" w="998200">
                  <a:moveTo>
                    <a:pt x="103412" y="0"/>
                  </a:moveTo>
                  <a:lnTo>
                    <a:pt x="894788" y="0"/>
                  </a:lnTo>
                  <a:cubicBezTo>
                    <a:pt x="951901" y="0"/>
                    <a:pt x="998200" y="46299"/>
                    <a:pt x="998200" y="103412"/>
                  </a:cubicBezTo>
                  <a:lnTo>
                    <a:pt x="998200" y="287540"/>
                  </a:lnTo>
                  <a:cubicBezTo>
                    <a:pt x="998200" y="314967"/>
                    <a:pt x="987304" y="341270"/>
                    <a:pt x="967911" y="360664"/>
                  </a:cubicBezTo>
                  <a:cubicBezTo>
                    <a:pt x="948517" y="380057"/>
                    <a:pt x="922214" y="390952"/>
                    <a:pt x="894788" y="390952"/>
                  </a:cubicBezTo>
                  <a:lnTo>
                    <a:pt x="103412" y="390952"/>
                  </a:lnTo>
                  <a:cubicBezTo>
                    <a:pt x="46299" y="390952"/>
                    <a:pt x="0" y="344653"/>
                    <a:pt x="0" y="287540"/>
                  </a:cubicBezTo>
                  <a:lnTo>
                    <a:pt x="0" y="103412"/>
                  </a:lnTo>
                  <a:cubicBezTo>
                    <a:pt x="0" y="46299"/>
                    <a:pt x="46299" y="0"/>
                    <a:pt x="103412" y="0"/>
                  </a:cubicBezTo>
                  <a:close/>
                </a:path>
              </a:pathLst>
            </a:custGeom>
            <a:solidFill>
              <a:srgbClr val="DDDDD1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98200" cy="4290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915122" y="7012002"/>
            <a:ext cx="6959352" cy="1918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19"/>
              </a:lnSpc>
            </a:pPr>
            <a:r>
              <a:rPr lang="en-US" sz="2999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Parallel trends</a:t>
            </a:r>
          </a:p>
          <a:p>
            <a:pPr algn="l">
              <a:lnSpc>
                <a:spcPts val="5219"/>
              </a:lnSpc>
            </a:pPr>
            <a:r>
              <a:rPr lang="en-US" b="true" sz="2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0/9 pre-event Statistically significant</a:t>
            </a:r>
          </a:p>
          <a:p>
            <a:pPr algn="l">
              <a:lnSpc>
                <a:spcPts val="5219"/>
              </a:lnSpc>
            </a:pPr>
            <a:r>
              <a:rPr lang="en-US" sz="2999">
                <a:solidFill>
                  <a:srgbClr val="2E6417"/>
                </a:solidFill>
                <a:latin typeface="Open Sans"/>
                <a:ea typeface="Open Sans"/>
                <a:cs typeface="Open Sans"/>
                <a:sym typeface="Open Sans"/>
              </a:rPr>
              <a:t>✓</a:t>
            </a: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DiD identification valid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37335" y="2049352"/>
            <a:ext cx="16230600" cy="103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Markets d</a:t>
            </a: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on't price words — they price consistency</a:t>
            </a:r>
          </a:p>
          <a:p>
            <a:pPr algn="l">
              <a:lnSpc>
                <a:spcPts val="399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480533"/>
            <a:ext cx="16439235" cy="5057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4" indent="-323847" lvl="1">
              <a:lnSpc>
                <a:spcPts val="584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Higher noise (MoF vs. MoE contradiction) widens Greenium spread — markets demand consistency premium, not just green rhetoric</a:t>
            </a:r>
          </a:p>
          <a:p>
            <a:pPr algn="l" marL="647694" indent="-323847" lvl="1">
              <a:lnSpc>
                <a:spcPts val="584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Indonesia's JETP shock detectable; India's green bond auction null → international validation matters more than domestic auction</a:t>
            </a:r>
          </a:p>
          <a:p>
            <a:pPr algn="l" marL="647694" indent="-323847" lvl="1">
              <a:lnSpc>
                <a:spcPts val="584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Null sentiment result supports weak-form efficiency for climate discourse</a:t>
            </a:r>
          </a:p>
          <a:p>
            <a:pPr algn="l" marL="647694" indent="-323847" lvl="1">
              <a:lnSpc>
                <a:spcPts val="584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ClimateBERT robustness limited (N=20, 1.4% coverage) — GDELT remains primary measure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29446" y="454474"/>
            <a:ext cx="348528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Interpretation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476998" y="303661"/>
            <a:ext cx="156460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/9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37335" y="2049352"/>
            <a:ext cx="16230600" cy="53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Next Goal is to Reduce the Limitations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29446" y="454474"/>
            <a:ext cx="348528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Limitation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476998" y="303661"/>
            <a:ext cx="156460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/9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510724" y="3466617"/>
            <a:ext cx="8295300" cy="1939703"/>
            <a:chOff x="0" y="0"/>
            <a:chExt cx="1020340" cy="2385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20340" cy="238588"/>
            </a:xfrm>
            <a:custGeom>
              <a:avLst/>
              <a:gdLst/>
              <a:ahLst/>
              <a:cxnLst/>
              <a:rect r="r" b="b" t="t" l="l"/>
              <a:pathLst>
                <a:path h="238588" w="1020340">
                  <a:moveTo>
                    <a:pt x="101168" y="0"/>
                  </a:moveTo>
                  <a:lnTo>
                    <a:pt x="919172" y="0"/>
                  </a:lnTo>
                  <a:cubicBezTo>
                    <a:pt x="975045" y="0"/>
                    <a:pt x="1020340" y="45294"/>
                    <a:pt x="1020340" y="101168"/>
                  </a:cubicBezTo>
                  <a:lnTo>
                    <a:pt x="1020340" y="137420"/>
                  </a:lnTo>
                  <a:cubicBezTo>
                    <a:pt x="1020340" y="193293"/>
                    <a:pt x="975045" y="238588"/>
                    <a:pt x="919172" y="238588"/>
                  </a:cubicBezTo>
                  <a:lnTo>
                    <a:pt x="101168" y="238588"/>
                  </a:lnTo>
                  <a:cubicBezTo>
                    <a:pt x="45294" y="238588"/>
                    <a:pt x="0" y="193293"/>
                    <a:pt x="0" y="137420"/>
                  </a:cubicBezTo>
                  <a:lnTo>
                    <a:pt x="0" y="101168"/>
                  </a:lnTo>
                  <a:cubicBezTo>
                    <a:pt x="0" y="45294"/>
                    <a:pt x="45294" y="0"/>
                    <a:pt x="101168" y="0"/>
                  </a:cubicBezTo>
                  <a:close/>
                </a:path>
              </a:pathLst>
            </a:custGeom>
            <a:solidFill>
              <a:srgbClr val="DDDDD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20340" cy="2766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619305" y="4189770"/>
            <a:ext cx="7733329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b="true" sz="2999" i="true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GDELT</a:t>
            </a:r>
            <a:r>
              <a:rPr lang="en-US" b="true" sz="2999" i="true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is not green-bond specific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10724" y="6293359"/>
            <a:ext cx="8295300" cy="1939703"/>
            <a:chOff x="0" y="0"/>
            <a:chExt cx="1020340" cy="2385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20340" cy="238588"/>
            </a:xfrm>
            <a:custGeom>
              <a:avLst/>
              <a:gdLst/>
              <a:ahLst/>
              <a:cxnLst/>
              <a:rect r="r" b="b" t="t" l="l"/>
              <a:pathLst>
                <a:path h="238588" w="1020340">
                  <a:moveTo>
                    <a:pt x="101168" y="0"/>
                  </a:moveTo>
                  <a:lnTo>
                    <a:pt x="919172" y="0"/>
                  </a:lnTo>
                  <a:cubicBezTo>
                    <a:pt x="975045" y="0"/>
                    <a:pt x="1020340" y="45294"/>
                    <a:pt x="1020340" y="101168"/>
                  </a:cubicBezTo>
                  <a:lnTo>
                    <a:pt x="1020340" y="137420"/>
                  </a:lnTo>
                  <a:cubicBezTo>
                    <a:pt x="1020340" y="193293"/>
                    <a:pt x="975045" y="238588"/>
                    <a:pt x="919172" y="238588"/>
                  </a:cubicBezTo>
                  <a:lnTo>
                    <a:pt x="101168" y="238588"/>
                  </a:lnTo>
                  <a:cubicBezTo>
                    <a:pt x="45294" y="238588"/>
                    <a:pt x="0" y="193293"/>
                    <a:pt x="0" y="137420"/>
                  </a:cubicBezTo>
                  <a:lnTo>
                    <a:pt x="0" y="101168"/>
                  </a:lnTo>
                  <a:cubicBezTo>
                    <a:pt x="0" y="45294"/>
                    <a:pt x="45294" y="0"/>
                    <a:pt x="101168" y="0"/>
                  </a:cubicBezTo>
                  <a:close/>
                </a:path>
              </a:pathLst>
            </a:custGeom>
            <a:solidFill>
              <a:srgbClr val="DDDDD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20340" cy="2766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10724" y="6991748"/>
            <a:ext cx="8295300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Small sample — 2 countries, 4 bond pairs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524527" y="3466617"/>
            <a:ext cx="8295300" cy="1939703"/>
            <a:chOff x="0" y="0"/>
            <a:chExt cx="1020340" cy="2385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20340" cy="238588"/>
            </a:xfrm>
            <a:custGeom>
              <a:avLst/>
              <a:gdLst/>
              <a:ahLst/>
              <a:cxnLst/>
              <a:rect r="r" b="b" t="t" l="l"/>
              <a:pathLst>
                <a:path h="238588" w="1020340">
                  <a:moveTo>
                    <a:pt x="101168" y="0"/>
                  </a:moveTo>
                  <a:lnTo>
                    <a:pt x="919172" y="0"/>
                  </a:lnTo>
                  <a:cubicBezTo>
                    <a:pt x="975045" y="0"/>
                    <a:pt x="1020340" y="45294"/>
                    <a:pt x="1020340" y="101168"/>
                  </a:cubicBezTo>
                  <a:lnTo>
                    <a:pt x="1020340" y="137420"/>
                  </a:lnTo>
                  <a:cubicBezTo>
                    <a:pt x="1020340" y="193293"/>
                    <a:pt x="975045" y="238588"/>
                    <a:pt x="919172" y="238588"/>
                  </a:cubicBezTo>
                  <a:lnTo>
                    <a:pt x="101168" y="238588"/>
                  </a:lnTo>
                  <a:cubicBezTo>
                    <a:pt x="45294" y="238588"/>
                    <a:pt x="0" y="193293"/>
                    <a:pt x="0" y="137420"/>
                  </a:cubicBezTo>
                  <a:lnTo>
                    <a:pt x="0" y="101168"/>
                  </a:lnTo>
                  <a:cubicBezTo>
                    <a:pt x="0" y="45294"/>
                    <a:pt x="45294" y="0"/>
                    <a:pt x="101168" y="0"/>
                  </a:cubicBezTo>
                  <a:close/>
                </a:path>
              </a:pathLst>
            </a:custGeom>
            <a:solidFill>
              <a:srgbClr val="DDDDD1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020340" cy="2766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24527" y="6293359"/>
            <a:ext cx="8295300" cy="1939703"/>
            <a:chOff x="0" y="0"/>
            <a:chExt cx="1020340" cy="2385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0340" cy="238588"/>
            </a:xfrm>
            <a:custGeom>
              <a:avLst/>
              <a:gdLst/>
              <a:ahLst/>
              <a:cxnLst/>
              <a:rect r="r" b="b" t="t" l="l"/>
              <a:pathLst>
                <a:path h="238588" w="1020340">
                  <a:moveTo>
                    <a:pt x="101168" y="0"/>
                  </a:moveTo>
                  <a:lnTo>
                    <a:pt x="919172" y="0"/>
                  </a:lnTo>
                  <a:cubicBezTo>
                    <a:pt x="975045" y="0"/>
                    <a:pt x="1020340" y="45294"/>
                    <a:pt x="1020340" y="101168"/>
                  </a:cubicBezTo>
                  <a:lnTo>
                    <a:pt x="1020340" y="137420"/>
                  </a:lnTo>
                  <a:cubicBezTo>
                    <a:pt x="1020340" y="193293"/>
                    <a:pt x="975045" y="238588"/>
                    <a:pt x="919172" y="238588"/>
                  </a:cubicBezTo>
                  <a:lnTo>
                    <a:pt x="101168" y="238588"/>
                  </a:lnTo>
                  <a:cubicBezTo>
                    <a:pt x="45294" y="238588"/>
                    <a:pt x="0" y="193293"/>
                    <a:pt x="0" y="137420"/>
                  </a:cubicBezTo>
                  <a:lnTo>
                    <a:pt x="0" y="101168"/>
                  </a:lnTo>
                  <a:cubicBezTo>
                    <a:pt x="0" y="45294"/>
                    <a:pt x="45294" y="0"/>
                    <a:pt x="101168" y="0"/>
                  </a:cubicBezTo>
                  <a:close/>
                </a:path>
              </a:pathLst>
            </a:custGeom>
            <a:solidFill>
              <a:srgbClr val="DDDDD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20340" cy="2766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524527" y="4135437"/>
            <a:ext cx="8295300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Cli</a:t>
            </a:r>
            <a:r>
              <a:rPr lang="en-US" b="true" sz="2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mateBERT coverage too sparse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24527" y="6991748"/>
            <a:ext cx="8295300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Secondary market only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37335" y="2049352"/>
            <a:ext cx="16230600" cy="103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Political credibility is a fiscal variable</a:t>
            </a:r>
          </a:p>
          <a:p>
            <a:pPr algn="l">
              <a:lnSpc>
                <a:spcPts val="399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329446" y="454474"/>
            <a:ext cx="348528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476998" y="303661"/>
            <a:ext cx="156460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/9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28484" y="3032014"/>
            <a:ext cx="15744192" cy="2059098"/>
            <a:chOff x="0" y="0"/>
            <a:chExt cx="812800" cy="1063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06302"/>
            </a:xfrm>
            <a:custGeom>
              <a:avLst/>
              <a:gdLst/>
              <a:ahLst/>
              <a:cxnLst/>
              <a:rect r="r" b="b" t="t" l="l"/>
              <a:pathLst>
                <a:path h="106302" w="812800">
                  <a:moveTo>
                    <a:pt x="53151" y="0"/>
                  </a:moveTo>
                  <a:lnTo>
                    <a:pt x="759649" y="0"/>
                  </a:lnTo>
                  <a:cubicBezTo>
                    <a:pt x="773746" y="0"/>
                    <a:pt x="787265" y="5600"/>
                    <a:pt x="797232" y="15568"/>
                  </a:cubicBezTo>
                  <a:cubicBezTo>
                    <a:pt x="807200" y="25535"/>
                    <a:pt x="812800" y="39054"/>
                    <a:pt x="812800" y="53151"/>
                  </a:cubicBezTo>
                  <a:lnTo>
                    <a:pt x="812800" y="53151"/>
                  </a:lnTo>
                  <a:cubicBezTo>
                    <a:pt x="812800" y="67247"/>
                    <a:pt x="807200" y="80766"/>
                    <a:pt x="797232" y="90734"/>
                  </a:cubicBezTo>
                  <a:cubicBezTo>
                    <a:pt x="787265" y="100702"/>
                    <a:pt x="773746" y="106302"/>
                    <a:pt x="759649" y="106302"/>
                  </a:cubicBezTo>
                  <a:lnTo>
                    <a:pt x="53151" y="106302"/>
                  </a:lnTo>
                  <a:cubicBezTo>
                    <a:pt x="39054" y="106302"/>
                    <a:pt x="25535" y="100702"/>
                    <a:pt x="15568" y="90734"/>
                  </a:cubicBezTo>
                  <a:cubicBezTo>
                    <a:pt x="5600" y="80766"/>
                    <a:pt x="0" y="67247"/>
                    <a:pt x="0" y="53151"/>
                  </a:cubicBezTo>
                  <a:lnTo>
                    <a:pt x="0" y="53151"/>
                  </a:lnTo>
                  <a:cubicBezTo>
                    <a:pt x="0" y="39054"/>
                    <a:pt x="5600" y="25535"/>
                    <a:pt x="15568" y="15568"/>
                  </a:cubicBezTo>
                  <a:cubicBezTo>
                    <a:pt x="25535" y="5600"/>
                    <a:pt x="39054" y="0"/>
                    <a:pt x="53151" y="0"/>
                  </a:cubicBezTo>
                  <a:close/>
                </a:path>
              </a:pathLst>
            </a:custGeom>
            <a:solidFill>
              <a:srgbClr val="DDDDD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144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602367" y="3266225"/>
            <a:ext cx="14874631" cy="1543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i="true" spc="149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What need does this fill?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irst high-frequency causal evidence on Greenium dynamics in Asian emerging markets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28484" y="5326431"/>
            <a:ext cx="15744192" cy="2059098"/>
            <a:chOff x="0" y="0"/>
            <a:chExt cx="812800" cy="10630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106302"/>
            </a:xfrm>
            <a:custGeom>
              <a:avLst/>
              <a:gdLst/>
              <a:ahLst/>
              <a:cxnLst/>
              <a:rect r="r" b="b" t="t" l="l"/>
              <a:pathLst>
                <a:path h="106302" w="812800">
                  <a:moveTo>
                    <a:pt x="53151" y="0"/>
                  </a:moveTo>
                  <a:lnTo>
                    <a:pt x="759649" y="0"/>
                  </a:lnTo>
                  <a:cubicBezTo>
                    <a:pt x="773746" y="0"/>
                    <a:pt x="787265" y="5600"/>
                    <a:pt x="797232" y="15568"/>
                  </a:cubicBezTo>
                  <a:cubicBezTo>
                    <a:pt x="807200" y="25535"/>
                    <a:pt x="812800" y="39054"/>
                    <a:pt x="812800" y="53151"/>
                  </a:cubicBezTo>
                  <a:lnTo>
                    <a:pt x="812800" y="53151"/>
                  </a:lnTo>
                  <a:cubicBezTo>
                    <a:pt x="812800" y="67247"/>
                    <a:pt x="807200" y="80766"/>
                    <a:pt x="797232" y="90734"/>
                  </a:cubicBezTo>
                  <a:cubicBezTo>
                    <a:pt x="787265" y="100702"/>
                    <a:pt x="773746" y="106302"/>
                    <a:pt x="759649" y="106302"/>
                  </a:cubicBezTo>
                  <a:lnTo>
                    <a:pt x="53151" y="106302"/>
                  </a:lnTo>
                  <a:cubicBezTo>
                    <a:pt x="39054" y="106302"/>
                    <a:pt x="25535" y="100702"/>
                    <a:pt x="15568" y="90734"/>
                  </a:cubicBezTo>
                  <a:cubicBezTo>
                    <a:pt x="5600" y="80766"/>
                    <a:pt x="0" y="67247"/>
                    <a:pt x="0" y="53151"/>
                  </a:cubicBezTo>
                  <a:lnTo>
                    <a:pt x="0" y="53151"/>
                  </a:lnTo>
                  <a:cubicBezTo>
                    <a:pt x="0" y="39054"/>
                    <a:pt x="5600" y="25535"/>
                    <a:pt x="15568" y="15568"/>
                  </a:cubicBezTo>
                  <a:cubicBezTo>
                    <a:pt x="25535" y="5600"/>
                    <a:pt x="39054" y="0"/>
                    <a:pt x="53151" y="0"/>
                  </a:cubicBezTo>
                  <a:close/>
                </a:path>
              </a:pathLst>
            </a:custGeom>
            <a:solidFill>
              <a:srgbClr val="DDDDD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12800" cy="144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602367" y="5553923"/>
            <a:ext cx="14874631" cy="2066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i="true" spc="149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What did I do?</a:t>
            </a:r>
          </a:p>
          <a:p>
            <a:pPr algn="l">
              <a:lnSpc>
                <a:spcPts val="4199"/>
              </a:lnSpc>
            </a:pPr>
            <a:r>
              <a:rPr lang="en-US" sz="2999" spc="1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DiD + event study with NLP sent</a:t>
            </a:r>
            <a:r>
              <a:rPr lang="en-US" sz="2999" spc="1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iment on daily green vs. conventional bond pairs (India, Indonesia)</a:t>
            </a:r>
          </a:p>
          <a:p>
            <a:pPr algn="l">
              <a:lnSpc>
                <a:spcPts val="4199"/>
              </a:lnSpc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928484" y="7620849"/>
            <a:ext cx="15744192" cy="2059098"/>
            <a:chOff x="0" y="0"/>
            <a:chExt cx="812800" cy="10630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106302"/>
            </a:xfrm>
            <a:custGeom>
              <a:avLst/>
              <a:gdLst/>
              <a:ahLst/>
              <a:cxnLst/>
              <a:rect r="r" b="b" t="t" l="l"/>
              <a:pathLst>
                <a:path h="106302" w="812800">
                  <a:moveTo>
                    <a:pt x="53151" y="0"/>
                  </a:moveTo>
                  <a:lnTo>
                    <a:pt x="759649" y="0"/>
                  </a:lnTo>
                  <a:cubicBezTo>
                    <a:pt x="773746" y="0"/>
                    <a:pt x="787265" y="5600"/>
                    <a:pt x="797232" y="15568"/>
                  </a:cubicBezTo>
                  <a:cubicBezTo>
                    <a:pt x="807200" y="25535"/>
                    <a:pt x="812800" y="39054"/>
                    <a:pt x="812800" y="53151"/>
                  </a:cubicBezTo>
                  <a:lnTo>
                    <a:pt x="812800" y="53151"/>
                  </a:lnTo>
                  <a:cubicBezTo>
                    <a:pt x="812800" y="67247"/>
                    <a:pt x="807200" y="80766"/>
                    <a:pt x="797232" y="90734"/>
                  </a:cubicBezTo>
                  <a:cubicBezTo>
                    <a:pt x="787265" y="100702"/>
                    <a:pt x="773746" y="106302"/>
                    <a:pt x="759649" y="106302"/>
                  </a:cubicBezTo>
                  <a:lnTo>
                    <a:pt x="53151" y="106302"/>
                  </a:lnTo>
                  <a:cubicBezTo>
                    <a:pt x="39054" y="106302"/>
                    <a:pt x="25535" y="100702"/>
                    <a:pt x="15568" y="90734"/>
                  </a:cubicBezTo>
                  <a:cubicBezTo>
                    <a:pt x="5600" y="80766"/>
                    <a:pt x="0" y="67247"/>
                    <a:pt x="0" y="53151"/>
                  </a:cubicBezTo>
                  <a:lnTo>
                    <a:pt x="0" y="53151"/>
                  </a:lnTo>
                  <a:cubicBezTo>
                    <a:pt x="0" y="39054"/>
                    <a:pt x="5600" y="25535"/>
                    <a:pt x="15568" y="15568"/>
                  </a:cubicBezTo>
                  <a:cubicBezTo>
                    <a:pt x="25535" y="5600"/>
                    <a:pt x="39054" y="0"/>
                    <a:pt x="53151" y="0"/>
                  </a:cubicBezTo>
                  <a:close/>
                </a:path>
              </a:pathLst>
            </a:custGeom>
            <a:solidFill>
              <a:srgbClr val="DDDDD1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12800" cy="144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817480" y="7811349"/>
            <a:ext cx="15070309" cy="2066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i="true" spc="149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Main takeaway</a:t>
            </a:r>
          </a:p>
          <a:p>
            <a:pPr algn="l">
              <a:lnSpc>
                <a:spcPts val="4199"/>
              </a:lnSpc>
            </a:pPr>
            <a:r>
              <a:rPr lang="en-US" sz="2999" spc="1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999" spc="1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ignaling noise — not sent</a:t>
            </a:r>
            <a:r>
              <a:rPr lang="en-US" sz="2999" spc="1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iment — costs money; ~3bp per 1-SD noise increase</a:t>
            </a:r>
          </a:p>
          <a:p>
            <a:pPr algn="l">
              <a:lnSpc>
                <a:spcPts val="419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218027" y="2727908"/>
            <a:ext cx="5239808" cy="5239808"/>
          </a:xfrm>
          <a:custGeom>
            <a:avLst/>
            <a:gdLst/>
            <a:ahLst/>
            <a:cxnLst/>
            <a:rect r="r" b="b" t="t" l="l"/>
            <a:pathLst>
              <a:path h="5239808" w="5239808">
                <a:moveTo>
                  <a:pt x="0" y="0"/>
                </a:moveTo>
                <a:lnTo>
                  <a:pt x="5239808" y="0"/>
                </a:lnTo>
                <a:lnTo>
                  <a:pt x="5239808" y="5239808"/>
                </a:lnTo>
                <a:lnTo>
                  <a:pt x="0" y="52398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35901" y="1104900"/>
            <a:ext cx="16230600" cy="530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Full replication available on GitHub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01173" y="8909050"/>
            <a:ext cx="13908732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Raw Data · </a:t>
            </a: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Processed sentiment CSV · Panel Data · Notebook · Plots · Chapters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476998" y="303661"/>
            <a:ext cx="156460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/9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04900"/>
            <a:ext cx="16230600" cy="530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References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05705" y="2104491"/>
            <a:ext cx="16476589" cy="7699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67"/>
              </a:lnSpc>
            </a:pPr>
            <a:r>
              <a:rPr lang="en-US" sz="2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Flammer, C. (2021). Corporate green bonds. Journal of Financial Economics, 142(2), 499–516.</a:t>
            </a:r>
          </a:p>
          <a:p>
            <a:pPr algn="just">
              <a:lnSpc>
                <a:spcPts val="4367"/>
              </a:lnSpc>
            </a:pPr>
            <a:r>
              <a:rPr lang="en-US" sz="2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Ze</a:t>
            </a:r>
            <a:r>
              <a:rPr lang="en-US" sz="2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rbib, O. D. (2019). The effect of pro-environmental preferences on bond prices. Journal of Banking &amp; Finance, 98, 39–60.</a:t>
            </a:r>
          </a:p>
          <a:p>
            <a:pPr algn="just">
              <a:lnSpc>
                <a:spcPts val="4367"/>
              </a:lnSpc>
            </a:pPr>
            <a:r>
              <a:rPr lang="en-US" sz="2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Huang, C. et al. (2023). Sovereign green bonds and the greenium. Journal of International Money and Finance.</a:t>
            </a:r>
          </a:p>
          <a:p>
            <a:pPr algn="just">
              <a:lnSpc>
                <a:spcPts val="4367"/>
              </a:lnSpc>
            </a:pPr>
            <a:r>
              <a:rPr lang="en-US" sz="2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Leidner, J. L. &amp; Schilder, F. (2010). Introducing GDELT: Global database of events, language and tone. Proceedings of the AAAI Workshop.</a:t>
            </a:r>
          </a:p>
          <a:p>
            <a:pPr algn="just">
              <a:lnSpc>
                <a:spcPts val="4367"/>
              </a:lnSpc>
            </a:pPr>
            <a:r>
              <a:rPr lang="en-US" sz="2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Webersinke, N. et al. (2022). ClimateBERT: A pretrained language model for climate-related text. arXiv:2110.12010.</a:t>
            </a:r>
          </a:p>
          <a:p>
            <a:pPr algn="just">
              <a:lnSpc>
                <a:spcPts val="4367"/>
              </a:lnSpc>
            </a:pPr>
            <a:r>
              <a:rPr lang="en-US" sz="2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Callaway, B. &amp; Sant'Anna, P. H. C. (2021). Difference-in-differences with multiple time periods. Journal of Econometrics, 225(2), 200–230.</a:t>
            </a:r>
          </a:p>
          <a:p>
            <a:pPr algn="just">
              <a:lnSpc>
                <a:spcPts val="4367"/>
              </a:lnSpc>
            </a:pPr>
            <a:r>
              <a:rPr lang="en-US" sz="2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 sources: Refinitiv Workspace (bond yields) · GDELT BigQuery (sentiment) · FRED (VIX) · Investing.com (CDS spreads)</a:t>
            </a:r>
          </a:p>
          <a:p>
            <a:pPr algn="just">
              <a:lnSpc>
                <a:spcPts val="4367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2072088" y="3244830"/>
          <a:ext cx="11315700" cy="3238262"/>
        </p:xfrm>
        <a:graphic>
          <a:graphicData uri="http://schemas.openxmlformats.org/presentationml/2006/ole">
            <p:oleObj imgW="13576300" imgH="54991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028700" y="1405874"/>
            <a:ext cx="16230600" cy="53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Bond Inventory — All 8 Instruments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29446" y="454474"/>
            <a:ext cx="348528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804D0D"/>
                </a:solidFill>
                <a:latin typeface="Open Sans"/>
                <a:ea typeface="Open Sans"/>
                <a:cs typeface="Open Sans"/>
                <a:sym typeface="Open Sans"/>
              </a:rPr>
              <a:t>Appendix 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08240" y="8918575"/>
            <a:ext cx="653191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Source: Refinitiv Workspace via CEU institutional access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2072088" y="1862138"/>
            <a:ext cx="12314991" cy="0"/>
          </a:xfrm>
          <a:prstGeom prst="line">
            <a:avLst/>
          </a:prstGeom>
          <a:ln cap="flat" w="9525">
            <a:solidFill>
              <a:srgbClr val="804D0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553483" y="6349642"/>
            <a:ext cx="1910358" cy="1536611"/>
          </a:xfrm>
          <a:custGeom>
            <a:avLst/>
            <a:gdLst/>
            <a:ahLst/>
            <a:cxnLst/>
            <a:rect r="r" b="b" t="t" l="l"/>
            <a:pathLst>
              <a:path h="1536611" w="1910358">
                <a:moveTo>
                  <a:pt x="0" y="0"/>
                </a:moveTo>
                <a:lnTo>
                  <a:pt x="1910358" y="0"/>
                </a:lnTo>
                <a:lnTo>
                  <a:pt x="1910358" y="1536611"/>
                </a:lnTo>
                <a:lnTo>
                  <a:pt x="0" y="15366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0625" t="0" r="-54009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751906" y="6349642"/>
            <a:ext cx="2090380" cy="1536611"/>
          </a:xfrm>
          <a:custGeom>
            <a:avLst/>
            <a:gdLst/>
            <a:ahLst/>
            <a:cxnLst/>
            <a:rect r="r" b="b" t="t" l="l"/>
            <a:pathLst>
              <a:path h="1536611" w="2090380">
                <a:moveTo>
                  <a:pt x="0" y="0"/>
                </a:moveTo>
                <a:lnTo>
                  <a:pt x="2090380" y="0"/>
                </a:lnTo>
                <a:lnTo>
                  <a:pt x="2090380" y="1536611"/>
                </a:lnTo>
                <a:lnTo>
                  <a:pt x="0" y="15366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63" t="0" r="-55409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28036" y="6349642"/>
            <a:ext cx="2375580" cy="1536611"/>
          </a:xfrm>
          <a:custGeom>
            <a:avLst/>
            <a:gdLst/>
            <a:ahLst/>
            <a:cxnLst/>
            <a:rect r="r" b="b" t="t" l="l"/>
            <a:pathLst>
              <a:path h="1536611" w="2375580">
                <a:moveTo>
                  <a:pt x="0" y="0"/>
                </a:moveTo>
                <a:lnTo>
                  <a:pt x="2375580" y="0"/>
                </a:lnTo>
                <a:lnTo>
                  <a:pt x="2375580" y="1536611"/>
                </a:lnTo>
                <a:lnTo>
                  <a:pt x="0" y="15366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142" t="-8233" r="-35262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2138526"/>
            <a:ext cx="8235940" cy="7703052"/>
          </a:xfrm>
          <a:custGeom>
            <a:avLst/>
            <a:gdLst/>
            <a:ahLst/>
            <a:cxnLst/>
            <a:rect r="r" b="b" t="t" l="l"/>
            <a:pathLst>
              <a:path h="7703052" w="8235940">
                <a:moveTo>
                  <a:pt x="0" y="0"/>
                </a:moveTo>
                <a:lnTo>
                  <a:pt x="8235940" y="0"/>
                </a:lnTo>
                <a:lnTo>
                  <a:pt x="8235940" y="7703052"/>
                </a:lnTo>
                <a:lnTo>
                  <a:pt x="0" y="77030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238" t="0" r="-12831" b="0"/>
            </a:stretch>
          </a:blipFill>
        </p:spPr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9144000" y="2701746"/>
          <a:ext cx="8115300" cy="6924675"/>
        </p:xfrm>
        <a:graphic>
          <a:graphicData uri="http://schemas.openxmlformats.org/drawingml/2006/table">
            <a:tbl>
              <a:tblPr/>
              <a:tblGrid>
                <a:gridCol w="1764379"/>
                <a:gridCol w="6350921"/>
              </a:tblGrid>
              <a:tr h="8236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Model: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distilroberta-base-climate-sentiment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36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Stage 1: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Climate detector → filter headlines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36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Stage 2: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opportunity (+1) / neutral / risk (−1)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36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Coverage: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52 matched days (1.4% of panel)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36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After FD: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Only 20 obs → sparse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36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India r: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 = +0.276 vs V2Tone (weak positive)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36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Indonesia r: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 = −0.037 vs V2Tone (diverges)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5890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Verdict: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Directionally consistent for India; inconclusive overall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8F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028700" y="1085850"/>
            <a:ext cx="16230600" cy="400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Sentiment Pipeline &amp; ClimateBERT Coverage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9446" y="454474"/>
            <a:ext cx="348528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804D0D"/>
                </a:solidFill>
                <a:latin typeface="Open Sans"/>
                <a:ea typeface="Open Sans"/>
                <a:cs typeface="Open Sans"/>
                <a:sym typeface="Open Sans"/>
              </a:rPr>
              <a:t>Appendix B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057401"/>
            <a:ext cx="3820716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GDELT V2Tone (primary)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53483" y="3123841"/>
            <a:ext cx="732666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  Query GDELT BigQuery — India/Indonesia × climate themes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53483" y="3920766"/>
            <a:ext cx="466561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  Sample 1,000 articles/country/month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53483" y="4717691"/>
            <a:ext cx="471204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  Parse V2Tone → normalise to [−1, +1]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53483" y="5514616"/>
            <a:ext cx="753219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  Aggregate: daily mean (sentiment) + daily std (signaling noise)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60586" y="6502042"/>
            <a:ext cx="1572220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3654</a:t>
            </a:r>
          </a:p>
          <a:p>
            <a:pPr algn="ctr">
              <a:lnSpc>
                <a:spcPts val="2799"/>
              </a:lnSpc>
            </a:pP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Country-days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053400" y="6502042"/>
            <a:ext cx="1522661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120,000</a:t>
            </a:r>
          </a:p>
          <a:p>
            <a:pPr algn="ctr">
              <a:lnSpc>
                <a:spcPts val="2799"/>
              </a:lnSpc>
            </a:pP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Total Articles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219096" y="6451197"/>
            <a:ext cx="2375580" cy="1568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India 0.33 · </a:t>
            </a:r>
          </a:p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Indonesia 0.40</a:t>
            </a:r>
          </a:p>
          <a:p>
            <a:pPr algn="ctr">
              <a:lnSpc>
                <a:spcPts val="4139"/>
              </a:lnSpc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Mean noise σ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8246566" y="2279471"/>
            <a:ext cx="810467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ClimateBERT (robustness only)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2031281" y="2330429"/>
          <a:ext cx="11793444" cy="8229600"/>
        </p:xfrm>
        <a:graphic>
          <a:graphicData uri="http://schemas.openxmlformats.org/presentationml/2006/ole">
            <p:oleObj imgW="14147800" imgH="105918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329446" y="454474"/>
            <a:ext cx="348528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804D0D"/>
                </a:solidFill>
                <a:latin typeface="Open Sans"/>
                <a:ea typeface="Open Sans"/>
                <a:cs typeface="Open Sans"/>
                <a:sym typeface="Open Sans"/>
              </a:rPr>
              <a:t>Appendix C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104900"/>
            <a:ext cx="16230600" cy="53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Full Regression Table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099996" y="9190095"/>
            <a:ext cx="453896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* p&lt;0.1  ** p&lt;0.05  *** p&lt;0.01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2615182" y="3359518"/>
          <a:ext cx="13291998" cy="8229600"/>
        </p:xfrm>
        <a:graphic>
          <a:graphicData uri="http://schemas.openxmlformats.org/presentationml/2006/ole">
            <p:oleObj imgW="15951200" imgH="108839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329446" y="454474"/>
            <a:ext cx="348528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804D0D"/>
                </a:solidFill>
                <a:latin typeface="Open Sans"/>
                <a:ea typeface="Open Sans"/>
                <a:cs typeface="Open Sans"/>
                <a:sym typeface="Open Sans"/>
              </a:rPr>
              <a:t>Appendix 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300578"/>
            <a:ext cx="16230600" cy="53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Country Specific Regression (M5 Specification)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37053" y="8662938"/>
            <a:ext cx="453896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* p&lt;0.1  ** p&lt;0.05  *** p&lt;0.01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DAHHq0nC4k0</dc:identifier>
  <dcterms:modified xsi:type="dcterms:W3CDTF">2011-08-01T06:04:30Z</dcterms:modified>
  <cp:revision>1</cp:revision>
  <dc:title>First</dc:title>
</cp:coreProperties>
</file>