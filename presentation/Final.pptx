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7" r:id="rId6"/>
    <p:sldId id="259" r:id="rId7"/>
    <p:sldId id="261" r:id="rId8"/>
    <p:sldId id="266" r:id="rId9"/>
    <p:sldId id="265" r:id="rId10"/>
    <p:sldId id="271" r:id="rId11"/>
    <p:sldId id="272" r:id="rId12"/>
    <p:sldId id="267" r:id="rId13"/>
    <p:sldId id="268" r:id="rId14"/>
    <p:sldId id="269" r:id="rId1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jpe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1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726440"/>
          </a:xfrm>
          <a:prstGeom prst="rect">
            <a:avLst/>
          </a:prstGeom>
          <a:solidFill>
            <a:srgbClr val="080C10"/>
          </a:solidFill>
          <a:ln w="12700">
            <a:solidFill>
              <a:srgbClr val="080C1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64592"/>
            <a:ext cx="8823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50" dirty="0">
                <a:solidFill>
                  <a:srgbClr val="00C2CB"/>
                </a:solidFill>
              </a:rPr>
              <a:t>MA Economics, Data &amp; Policy  ·  CEU  ·  May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64592" y="457200"/>
            <a:ext cx="88239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Supervisor: Zoltán Csaba Tóth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33985" y="321945"/>
            <a:ext cx="947166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2400" dirty="0">
                <a:solidFill>
                  <a:schemeClr val="bg1"/>
                </a:solidFill>
              </a:rPr>
              <a:t>When Governments Say "Green" — Do Bond Markets Believe Them?</a:t>
            </a:r>
            <a:endParaRPr lang="en-US" altLang="en-US" sz="24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164592" y="3247898"/>
            <a:ext cx="8823960" cy="0"/>
          </a:xfrm>
          <a:prstGeom prst="line">
            <a:avLst/>
          </a:prstGeom>
          <a:noFill/>
          <a:ln w="15240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8280" y="3561715"/>
            <a:ext cx="2103120" cy="1148715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7749" y="3588512"/>
            <a:ext cx="1956816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4"/>
                </a:solidFill>
              </a:rPr>
              <a:t>2,221 </a:t>
            </a:r>
            <a:endParaRPr lang="en-US" sz="2000" dirty="0">
              <a:solidFill>
                <a:schemeClr val="accent4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177165" y="4006850"/>
            <a:ext cx="213423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Panel Observations</a:t>
            </a:r>
            <a:endParaRPr lang="en-US" sz="1000" dirty="0">
              <a:solidFill>
                <a:srgbClr val="8B949E"/>
              </a:solidFill>
            </a:endParaRPr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6 Green-Conventional twin pairs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95855" y="3564255"/>
            <a:ext cx="2103120" cy="112649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69515" y="3588512"/>
            <a:ext cx="1956816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chemeClr val="accent1"/>
                </a:solidFill>
              </a:rPr>
              <a:t>2</a:t>
            </a:r>
            <a:endParaRPr lang="en-US" sz="2000" dirty="0">
              <a:solidFill>
                <a:schemeClr val="accent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90470" y="3986403"/>
            <a:ext cx="195681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Countries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India · Indonesia 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26610" y="3547110"/>
            <a:ext cx="2103120" cy="1143635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36211" y="3588512"/>
            <a:ext cx="1956816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712A"/>
                </a:solidFill>
              </a:rPr>
              <a:t>4 yrs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743196" y="3988943"/>
            <a:ext cx="195681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Daily data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2020 – 2024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0" y="3547110"/>
            <a:ext cx="2103120" cy="1143635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81952" y="3588512"/>
            <a:ext cx="1956816" cy="4754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A44F"/>
                </a:solidFill>
              </a:rPr>
              <a:t>350K+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81952" y="3986403"/>
            <a:ext cx="195681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News articles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B949E"/>
                </a:solidFill>
              </a:rPr>
              <a:t>GDELT V2Tone sentiment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64592" y="4828032"/>
            <a:ext cx="8823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1"/>
                </a:solidFill>
              </a:rPr>
              <a:t>Nahian Ibnat</a:t>
            </a:r>
            <a:endParaRPr lang="en-US" sz="950" dirty="0"/>
          </a:p>
        </p:txBody>
      </p:sp>
      <p:sp>
        <p:nvSpPr>
          <p:cNvPr id="27" name="Text Box 26"/>
          <p:cNvSpPr txBox="1"/>
          <p:nvPr/>
        </p:nvSpPr>
        <p:spPr>
          <a:xfrm>
            <a:off x="164465" y="1390650"/>
            <a:ext cx="5655310" cy="6299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1400">
                <a:solidFill>
                  <a:schemeClr val="bg1"/>
                </a:solidFill>
                <a:latin typeface="+mj-lt"/>
                <a:ea typeface="Open Sans"/>
                <a:cs typeface="+mj-lt"/>
                <a:sym typeface="Open Sans"/>
              </a:rPr>
              <a:t>Climate </a:t>
            </a:r>
            <a:r>
              <a:rPr lang="en-US" sz="1400">
                <a:solidFill>
                  <a:schemeClr val="bg1"/>
                </a:solidFill>
                <a:ea typeface="Open Sans"/>
                <a:cs typeface="+mn-lt"/>
                <a:sym typeface="Open Sans"/>
              </a:rPr>
              <a:t>speeches </a:t>
            </a:r>
            <a:r>
              <a:rPr lang="en-US" sz="1400">
                <a:solidFill>
                  <a:schemeClr val="bg1"/>
                </a:solidFill>
                <a:latin typeface="+mj-lt"/>
                <a:ea typeface="Open Sans"/>
                <a:cs typeface="+mj-lt"/>
                <a:sym typeface="Open Sans"/>
              </a:rPr>
              <a:t>→ Sovereign Green Bond Yields in Asian Emerging Markets</a:t>
            </a:r>
            <a:endParaRPr lang="en-US" sz="1400">
              <a:solidFill>
                <a:schemeClr val="bg1"/>
              </a:solidFill>
              <a:latin typeface="+mj-lt"/>
              <a:ea typeface="Open Sans"/>
              <a:cs typeface="+mj-lt"/>
              <a:sym typeface="Open Sans"/>
            </a:endParaRPr>
          </a:p>
        </p:txBody>
      </p:sp>
      <p:sp>
        <p:nvSpPr>
          <p:cNvPr id="29" name="Text Box 28"/>
          <p:cNvSpPr txBox="1"/>
          <p:nvPr/>
        </p:nvSpPr>
        <p:spPr>
          <a:xfrm>
            <a:off x="284480" y="2461895"/>
            <a:ext cx="743775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Gap:                Prior studies use monthly data, monthly averages mask the contradictions  </a:t>
            </a:r>
            <a:endParaRPr lang="en-US" sz="1400" dirty="0">
              <a:solidFill>
                <a:schemeClr val="bg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1882140" y="2087880"/>
            <a:ext cx="4572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1400" b="1" dirty="0">
                <a:solidFill>
                  <a:schemeClr val="bg1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Short Answer: Speeches don't move prices</a:t>
            </a:r>
            <a:endParaRPr lang="en-US" sz="1400" b="1" dirty="0">
              <a:solidFill>
                <a:schemeClr val="bg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-254" y="18415"/>
            <a:ext cx="121066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THE QUESTION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64592" y="502920"/>
            <a:ext cx="8823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sym typeface="+mn-ea"/>
              </a:rPr>
              <a:t>Investors accept a yield discount on green bonds — if they trust the issuer's commitment</a:t>
            </a:r>
            <a:endParaRPr lang="en-US" sz="2000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164592" y="987552"/>
            <a:ext cx="88239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-144780" y="1236345"/>
            <a:ext cx="4342765" cy="7937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23850" lvl="1" indent="0" algn="l">
              <a:lnSpc>
                <a:spcPts val="4200"/>
              </a:lnSpc>
              <a:buFont typeface="Arial" panose="020B0604020202020204"/>
              <a:buNone/>
            </a:pPr>
            <a:r>
              <a:rPr lang="en-US" sz="1200">
                <a:solidFill>
                  <a:schemeClr val="bg1"/>
                </a:solidFill>
                <a:ea typeface="Open Sans"/>
                <a:cs typeface="+mn-lt"/>
                <a:sym typeface="Open Sans"/>
              </a:rPr>
              <a:t>Green bonds = sovereign loans pledged to green projects</a:t>
            </a:r>
            <a:endParaRPr lang="en-US" sz="1200" dirty="0">
              <a:solidFill>
                <a:schemeClr val="bg1"/>
              </a:solidFill>
              <a:ea typeface="Open Sans"/>
              <a:cs typeface="+mn-lt"/>
              <a:sym typeface="Open San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-145415" y="1703070"/>
            <a:ext cx="4168775" cy="8045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23850" lvl="1" indent="0" algn="l">
              <a:lnSpc>
                <a:spcPct val="100000"/>
              </a:lnSpc>
              <a:buFont typeface="Arial" panose="020B0604020202020204"/>
              <a:buNone/>
            </a:pPr>
            <a:r>
              <a:rPr lang="en-US" sz="1200">
                <a:solidFill>
                  <a:schemeClr val="bg1"/>
                </a:solidFill>
                <a:ea typeface="Open Sans"/>
                <a:cs typeface="+mn-lt"/>
                <a:sym typeface="Open Sans"/>
              </a:rPr>
              <a:t>Greenium = yield discount investors accept for the green label</a:t>
            </a:r>
            <a:endParaRPr lang="en-US" sz="1200">
              <a:solidFill>
                <a:schemeClr val="bg1"/>
              </a:solidFill>
              <a:ea typeface="Open Sans"/>
              <a:cs typeface="+mn-lt"/>
              <a:sym typeface="Open Sans"/>
            </a:endParaRPr>
          </a:p>
          <a:p>
            <a:pPr marL="323850" lvl="1" indent="0" algn="l">
              <a:lnSpc>
                <a:spcPct val="100000"/>
              </a:lnSpc>
              <a:buFont typeface="Arial" panose="020B0604020202020204"/>
              <a:buNone/>
            </a:pPr>
            <a:r>
              <a:rPr lang="en-US" sz="1000">
                <a:solidFill>
                  <a:schemeClr val="bg1"/>
                </a:solidFill>
                <a:latin typeface="+mn-ea"/>
                <a:ea typeface="Open Sans"/>
                <a:cs typeface="+mn-ea"/>
                <a:sym typeface="Open Sans"/>
              </a:rPr>
              <a:t>                         YTMgreen − YTMconventional is the outcome</a:t>
            </a:r>
            <a:endParaRPr lang="en-US" sz="1000" dirty="0">
              <a:solidFill>
                <a:schemeClr val="bg1"/>
              </a:solidFill>
              <a:latin typeface="+mn-ea"/>
              <a:ea typeface="Open Sans"/>
              <a:cs typeface="+mn-ea"/>
              <a:sym typeface="Open San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462145" y="1298575"/>
            <a:ext cx="4526280" cy="2130425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15510" y="1361440"/>
            <a:ext cx="436168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8712A"/>
                </a:solidFill>
              </a:rPr>
              <a:t>The Paradox 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06620" y="1616710"/>
            <a:ext cx="3401695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0F6FC"/>
                </a:solidFill>
              </a:rPr>
              <a:t>India &amp; Indonesia</a:t>
            </a:r>
            <a:r>
              <a:rPr lang="en-US" sz="1050" dirty="0">
                <a:solidFill>
                  <a:srgbClr val="8B949E"/>
                </a:solidFill>
              </a:rPr>
              <a:t> are two of the world's largest coal users.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8B949E"/>
                </a:solidFill>
              </a:rPr>
              <a:t>Yet both issue sovereign "green" bonds.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17720" y="2244090"/>
            <a:ext cx="4224655" cy="541020"/>
          </a:xfrm>
          <a:prstGeom prst="rect">
            <a:avLst/>
          </a:prstGeom>
          <a:solidFill>
            <a:srgbClr val="1C2128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99635" y="2304288"/>
            <a:ext cx="404164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EA44F"/>
                </a:solidFill>
              </a:rPr>
              <a:t>Finance Ministry: "We are committed to green energy" ↑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99635" y="2507615"/>
            <a:ext cx="4041648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6B6B"/>
                </a:solidFill>
              </a:rPr>
              <a:t>Energy Ministry: "Approved 10 new coal plants" ↓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06620" y="2818384"/>
            <a:ext cx="4224528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F0F6FC"/>
                </a:solidFill>
              </a:rPr>
              <a:t>Do investors price this contradiction?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64465" y="3599180"/>
            <a:ext cx="8823960" cy="1365885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92608" y="3725926"/>
            <a:ext cx="8595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2CB"/>
                </a:solidFill>
              </a:rPr>
              <a:t>Three Hypotheses:</a:t>
            </a:r>
            <a:endParaRPr lang="en-US" sz="1600" b="1" dirty="0">
              <a:solidFill>
                <a:srgbClr val="00C2CB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262890" y="4197477"/>
            <a:ext cx="268833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8A6FF"/>
                </a:solidFill>
              </a:rPr>
              <a:t>H1: </a:t>
            </a:r>
            <a:r>
              <a:rPr lang="en-US" sz="950" b="1" dirty="0">
                <a:solidFill>
                  <a:srgbClr val="F0F6FC"/>
                </a:solidFill>
              </a:rPr>
              <a:t>Sentiment → Greenium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274320" y="4465066"/>
            <a:ext cx="268833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Political speech shifts the green yield spread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236976" y="4197477"/>
            <a:ext cx="268833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8712A"/>
                </a:solidFill>
              </a:rPr>
              <a:t>H2: </a:t>
            </a:r>
            <a:r>
              <a:rPr lang="en-US" sz="950" b="1" dirty="0">
                <a:solidFill>
                  <a:srgbClr val="F0F6FC"/>
                </a:solidFill>
              </a:rPr>
              <a:t>Signaling Noise → Greenium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236976" y="4465066"/>
            <a:ext cx="268833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Contradictory signals erode investor trust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85002" y="4165092"/>
            <a:ext cx="268833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2EA44F"/>
                </a:solidFill>
              </a:rPr>
              <a:t>H3: </a:t>
            </a:r>
            <a:r>
              <a:rPr lang="en-US" sz="950" b="1" dirty="0">
                <a:solidFill>
                  <a:schemeClr val="bg1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Policy event → structural shift</a:t>
            </a:r>
            <a:endParaRPr lang="en-US" sz="950" b="1" dirty="0">
              <a:solidFill>
                <a:schemeClr val="bg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985002" y="4535551"/>
            <a:ext cx="2688336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</a:rPr>
              <a:t>Inaugural issuance permanently alters the greenium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164592" y="502920"/>
            <a:ext cx="8823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sym typeface="+mn-ea"/>
              </a:rPr>
              <a:t>Twin-bond design + Stacked DiD </a:t>
            </a:r>
            <a:endParaRPr lang="en-US" sz="2000" dirty="0">
              <a:solidFill>
                <a:schemeClr val="bg1"/>
              </a:solidFill>
              <a:sym typeface="+mn-ea"/>
            </a:endParaRPr>
          </a:p>
        </p:txBody>
      </p:sp>
      <p:sp>
        <p:nvSpPr>
          <p:cNvPr id="7" name="Text 5"/>
          <p:cNvSpPr/>
          <p:nvPr/>
        </p:nvSpPr>
        <p:spPr>
          <a:xfrm>
            <a:off x="164592" y="987552"/>
            <a:ext cx="88239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4465" y="1298575"/>
            <a:ext cx="3585845" cy="1120775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74320" y="1371600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A44F"/>
                </a:solidFill>
              </a:rPr>
              <a:t>Twin-Bond Design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2608" y="1673352"/>
            <a:ext cx="3858768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</a:rPr>
              <a:t>same government · same coupon · same maturity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00">
                <a:solidFill>
                  <a:schemeClr val="bg1"/>
                </a:solidFill>
                <a:latin typeface="+mn-ea"/>
                <a:ea typeface="Open Sans"/>
                <a:cs typeface="+mn-ea"/>
                <a:sym typeface="Open Sans"/>
              </a:rPr>
              <a:t>                                    → default &amp; currency risk cancel out</a:t>
            </a:r>
            <a:endParaRPr lang="en-US" sz="1000" dirty="0">
              <a:solidFill>
                <a:schemeClr val="bg1"/>
              </a:solidFill>
              <a:latin typeface="+mn-ea"/>
              <a:ea typeface="Open Sans"/>
              <a:cs typeface="+mn-ea"/>
              <a:sym typeface="Open San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10185" y="2584450"/>
            <a:ext cx="3540760" cy="23368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92735" y="2806065"/>
            <a:ext cx="34759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B050"/>
                </a:solidFill>
              </a:rPr>
              <a:t>Regression Model:</a:t>
            </a:r>
            <a:endParaRPr lang="en-US" sz="1200" dirty="0">
              <a:solidFill>
                <a:srgbClr val="00B050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292608" y="2828163"/>
            <a:ext cx="3858768" cy="10972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chemeClr val="bg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ΔGreenium = β₁·ΔSentiment + β₂·ΔNoise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 algn="l">
              <a:lnSpc>
                <a:spcPct val="140000"/>
              </a:lnSpc>
              <a:buNone/>
            </a:pPr>
            <a:r>
              <a:rPr lang="en-US" sz="1000" dirty="0">
                <a:solidFill>
                  <a:schemeClr val="bg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+ β₃·Post + γ'·ΔControls + αᵢ + ε</a:t>
            </a:r>
            <a:endParaRPr lang="en-US" sz="1000" dirty="0">
              <a:solidFill>
                <a:schemeClr val="bg1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  <a:sym typeface="+mn-ea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004310" y="1298575"/>
            <a:ext cx="5102860" cy="361188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46245" y="1371600"/>
            <a:ext cx="4480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D700"/>
                </a:solidFill>
              </a:rPr>
              <a:t>Stacked DiD 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90288" y="1682496"/>
            <a:ext cx="438912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4" name="Text Box 33"/>
          <p:cNvSpPr txBox="1"/>
          <p:nvPr/>
        </p:nvSpPr>
        <p:spPr>
          <a:xfrm>
            <a:off x="274320" y="3842385"/>
            <a:ext cx="3627755" cy="4914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chemeClr val="bg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Controls: VIX, CDS, FX</a:t>
            </a:r>
            <a:endParaRPr lang="en-US" sz="1000" dirty="0">
              <a:solidFill>
                <a:schemeClr val="bg1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  <a:sym typeface="+mn-ea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chemeClr val="bg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          All regressors standardised (SD=1)</a:t>
            </a:r>
            <a:endParaRPr lang="en-US" sz="1000" dirty="0">
              <a:solidFill>
                <a:schemeClr val="bg1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  <a:sym typeface="+mn-ea"/>
            </a:endParaRPr>
          </a:p>
        </p:txBody>
      </p:sp>
      <p:sp>
        <p:nvSpPr>
          <p:cNvPr id="35" name="Text Box 34"/>
          <p:cNvSpPr txBox="1"/>
          <p:nvPr/>
        </p:nvSpPr>
        <p:spPr>
          <a:xfrm>
            <a:off x="4133215" y="1606550"/>
            <a:ext cx="4572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India Treatment Event: Green Bond Auction Jan 2023</a:t>
            </a:r>
            <a:endParaRPr lang="en-US" sz="1000" b="1" dirty="0">
              <a:solidFill>
                <a:srgbClr val="FFFFFF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Indonesia Treatment Event: JETP G20 Nov 2022</a:t>
            </a:r>
            <a:endParaRPr lang="en-US" sz="1000" b="1" dirty="0">
              <a:solidFill>
                <a:srgbClr val="FFFFFF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pic>
        <p:nvPicPr>
          <p:cNvPr id="3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3215" y="2054860"/>
            <a:ext cx="4864735" cy="2791460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7450" y="2169160"/>
            <a:ext cx="466725" cy="209550"/>
          </a:xfrm>
          <a:prstGeom prst="rect">
            <a:avLst/>
          </a:prstGeom>
        </p:spPr>
      </p:pic>
      <p:pic>
        <p:nvPicPr>
          <p:cNvPr id="38" name="Picture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175" y="2214245"/>
            <a:ext cx="466725" cy="163195"/>
          </a:xfrm>
          <a:prstGeom prst="rect">
            <a:avLst/>
          </a:prstGeom>
        </p:spPr>
      </p:pic>
      <p:pic>
        <p:nvPicPr>
          <p:cNvPr id="39" name="Picture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775" y="2221865"/>
            <a:ext cx="466725" cy="176530"/>
          </a:xfrm>
          <a:prstGeom prst="rect">
            <a:avLst/>
          </a:prstGeom>
        </p:spPr>
      </p:pic>
      <p:sp>
        <p:nvSpPr>
          <p:cNvPr id="27" name="Text 3"/>
          <p:cNvSpPr/>
          <p:nvPr/>
        </p:nvSpPr>
        <p:spPr>
          <a:xfrm>
            <a:off x="-254" y="18415"/>
            <a:ext cx="121066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METHODOLOGY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164592" y="502920"/>
            <a:ext cx="8823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0F6FC"/>
                </a:solidFill>
              </a:rPr>
              <a:t>Parallel Trends — Event Study Validation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164592" y="1298448"/>
            <a:ext cx="4279392" cy="2880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2608" y="1371600"/>
            <a:ext cx="405993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EA44F"/>
                </a:solidFill>
              </a:rPr>
              <a:t>India ✓  Parallel Trends Satisfied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2608" y="1645920"/>
            <a:ext cx="40599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</a:rPr>
              <a:t>Treatment: Inaugural Green Bond Auction — 25-Jan-2023</a:t>
            </a:r>
            <a:endParaRPr lang="en-US" sz="9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395" y="1921510"/>
            <a:ext cx="4149725" cy="2138045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572000" y="1298448"/>
            <a:ext cx="4407408" cy="288036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700016" y="1371600"/>
            <a:ext cx="418795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B0303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Indonesia ⚠  Pre-Trend Detected</a:t>
            </a:r>
            <a:endParaRPr lang="en-US" sz="1050" b="1" dirty="0">
              <a:solidFill>
                <a:schemeClr val="accent2">
                  <a:lumMod val="60000"/>
                  <a:lumOff val="40000"/>
                </a:schemeClr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700016" y="1645920"/>
            <a:ext cx="4187952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B949E"/>
                </a:solidFill>
              </a:rPr>
              <a:t>Treatment: JETP G20 Announcement — 15-Nov-2022</a:t>
            </a:r>
            <a:endParaRPr lang="en-US" sz="900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485" y="1918335"/>
            <a:ext cx="4282440" cy="214122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164592" y="4261104"/>
            <a:ext cx="8823960" cy="749808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292608" y="4334256"/>
            <a:ext cx="8503920" cy="621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A44F"/>
                </a:solidFill>
              </a:rPr>
              <a:t>India: </a:t>
            </a:r>
            <a:r>
              <a:rPr lang="en-US" sz="950" dirty="0">
                <a:solidFill>
                  <a:srgbClr val="8B949E"/>
                </a:solidFill>
              </a:rPr>
              <a:t>0 of 9 pre-event weeks significant → DiD assumption satisfied</a:t>
            </a:r>
            <a:endParaRPr lang="en-US" sz="950" dirty="0">
              <a:solidFill>
                <a:srgbClr val="8B949E"/>
              </a:solidFill>
            </a:endParaRPr>
          </a:p>
          <a:p>
            <a:pPr marL="0" indent="0">
              <a:buNone/>
            </a:pPr>
            <a:r>
              <a:rPr lang="en-US" sz="950" b="1" dirty="0">
                <a:solidFill>
                  <a:srgbClr val="FF6B6B"/>
                </a:solidFill>
              </a:rPr>
              <a:t>Indonesia: </a:t>
            </a:r>
            <a:r>
              <a:rPr lang="en-US" sz="950" dirty="0">
                <a:solidFill>
                  <a:srgbClr val="8B949E"/>
                </a:solidFill>
              </a:rPr>
              <a:t>Pre-event drift driven by 2022 global rate cycle (Fed hikes) — affects both bonds identically </a:t>
            </a:r>
            <a:endParaRPr lang="en-US" sz="950" dirty="0">
              <a:solidFill>
                <a:srgbClr val="8B949E"/>
              </a:solidFill>
            </a:endParaRPr>
          </a:p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</a:rPr>
              <a:t>                                                                                                    </a:t>
            </a:r>
            <a:r>
              <a:rPr lang="en-US" sz="950" b="1" dirty="0">
                <a:solidFill>
                  <a:srgbClr val="FFD700"/>
                </a:solidFill>
              </a:rPr>
              <a:t>→ Stacked DiD (±180d windows, clean controls) is the methodological solution.</a:t>
            </a:r>
            <a:endParaRPr lang="en-US" sz="950" dirty="0"/>
          </a:p>
        </p:txBody>
      </p:sp>
      <p:sp>
        <p:nvSpPr>
          <p:cNvPr id="27" name="Text 3"/>
          <p:cNvSpPr/>
          <p:nvPr/>
        </p:nvSpPr>
        <p:spPr>
          <a:xfrm>
            <a:off x="0" y="18415"/>
            <a:ext cx="1597660" cy="237490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IDENTIFICATION VALIDITY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8321040" y="91440"/>
            <a:ext cx="640080" cy="25603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r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C8D4E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59" name="Text 2"/>
          <p:cNvSpPr/>
          <p:nvPr/>
        </p:nvSpPr>
        <p:spPr>
          <a:xfrm>
            <a:off x="-1056513" y="-762"/>
            <a:ext cx="3108960" cy="2468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endParaRPr lang="en-US" sz="850" dirty="0">
              <a:latin typeface="+mn-ea"/>
              <a:cs typeface="+mn-ea"/>
            </a:endParaRPr>
          </a:p>
        </p:txBody>
      </p:sp>
      <p:sp>
        <p:nvSpPr>
          <p:cNvPr id="60" name="Text 3"/>
          <p:cNvSpPr/>
          <p:nvPr/>
        </p:nvSpPr>
        <p:spPr>
          <a:xfrm>
            <a:off x="347472" y="420624"/>
            <a:ext cx="8412480" cy="457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2200" b="1" dirty="0">
                <a:solidFill>
                  <a:schemeClr val="bg1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Speeches don't move bond prices -- global fear does.</a:t>
            </a:r>
            <a:endParaRPr lang="en-US" sz="2200" b="1" dirty="0">
              <a:solidFill>
                <a:schemeClr val="bg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282575" y="1405890"/>
            <a:ext cx="2761615" cy="2508885"/>
          </a:xfrm>
          <a:prstGeom prst="rect">
            <a:avLst/>
          </a:prstGeom>
          <a:solidFill>
            <a:schemeClr val="bg2">
              <a:lumMod val="90000"/>
            </a:schemeClr>
          </a:solidFill>
          <a:ln w="6350">
            <a:solidFill>
              <a:srgbClr val="C8D4E0"/>
            </a:solidFill>
            <a:prstDash val="solid"/>
          </a:ln>
        </p:spPr>
      </p:sp>
      <p:sp>
        <p:nvSpPr>
          <p:cNvPr id="63" name="Text 6"/>
          <p:cNvSpPr/>
          <p:nvPr/>
        </p:nvSpPr>
        <p:spPr>
          <a:xfrm>
            <a:off x="410972" y="1678305"/>
            <a:ext cx="2560320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H1 -- Sentiment</a:t>
            </a:r>
            <a:endParaRPr lang="en-US" sz="1050" dirty="0"/>
          </a:p>
        </p:txBody>
      </p:sp>
      <p:sp>
        <p:nvSpPr>
          <p:cNvPr id="64" name="Text 7"/>
          <p:cNvSpPr/>
          <p:nvPr/>
        </p:nvSpPr>
        <p:spPr>
          <a:xfrm>
            <a:off x="694817" y="1947672"/>
            <a:ext cx="2560320" cy="182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(politicians' speeches)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362712" y="2304288"/>
            <a:ext cx="2560320" cy="256032"/>
          </a:xfrm>
          <a:prstGeom prst="rect">
            <a:avLst/>
          </a:prstGeom>
          <a:solidFill>
            <a:srgbClr val="FBEAE8"/>
          </a:solidFill>
          <a:ln w="6350">
            <a:solidFill>
              <a:srgbClr val="A82820"/>
            </a:solidFill>
            <a:prstDash val="solid"/>
          </a:ln>
        </p:spPr>
      </p:sp>
      <p:sp>
        <p:nvSpPr>
          <p:cNvPr id="66" name="Text 9"/>
          <p:cNvSpPr/>
          <p:nvPr/>
        </p:nvSpPr>
        <p:spPr>
          <a:xfrm>
            <a:off x="347472" y="2304288"/>
            <a:ext cx="2560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A828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NULL </a:t>
            </a:r>
            <a:endParaRPr lang="en-US" sz="950" dirty="0"/>
          </a:p>
        </p:txBody>
      </p:sp>
      <p:sp>
        <p:nvSpPr>
          <p:cNvPr id="67" name="Text 10"/>
          <p:cNvSpPr/>
          <p:nvPr/>
        </p:nvSpPr>
        <p:spPr>
          <a:xfrm>
            <a:off x="351917" y="2624455"/>
            <a:ext cx="2560320" cy="3474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 ~= +0.0002,  p &gt; 0.50</a:t>
            </a:r>
            <a:endParaRPr lang="en-US" sz="950" dirty="0"/>
          </a:p>
        </p:txBody>
      </p:sp>
      <p:sp>
        <p:nvSpPr>
          <p:cNvPr id="68" name="Text 11"/>
          <p:cNvSpPr/>
          <p:nvPr/>
        </p:nvSpPr>
        <p:spPr>
          <a:xfrm>
            <a:off x="347472" y="3036062"/>
            <a:ext cx="2560320" cy="10972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altLang="en-US" sz="1000" dirty="0"/>
              <a:t>Political tone is noise: a full 1-SD sentiment swing shifts the greenium by </a:t>
            </a:r>
            <a:r>
              <a:rPr lang="en-US" altLang="en-US" sz="1000" dirty="0">
                <a:sym typeface="+mn-ea"/>
              </a:rPr>
              <a:t> ~</a:t>
            </a:r>
            <a:r>
              <a:rPr lang="en-US" altLang="en-US" sz="1000" dirty="0"/>
              <a:t>0.02bp — economically zero</a:t>
            </a:r>
            <a:endParaRPr lang="en-US" altLang="en-US" sz="1000" dirty="0"/>
          </a:p>
        </p:txBody>
      </p:sp>
      <p:sp>
        <p:nvSpPr>
          <p:cNvPr id="69" name="Shape 12"/>
          <p:cNvSpPr/>
          <p:nvPr/>
        </p:nvSpPr>
        <p:spPr>
          <a:xfrm>
            <a:off x="3291205" y="1414780"/>
            <a:ext cx="2761615" cy="2500630"/>
          </a:xfrm>
          <a:prstGeom prst="rect">
            <a:avLst/>
          </a:prstGeom>
          <a:solidFill>
            <a:schemeClr val="bg2">
              <a:lumMod val="90000"/>
            </a:schemeClr>
          </a:solidFill>
          <a:ln w="6350">
            <a:solidFill>
              <a:srgbClr val="C8D4E0"/>
            </a:solidFill>
            <a:prstDash val="solid"/>
          </a:ln>
        </p:spPr>
      </p:sp>
      <p:sp>
        <p:nvSpPr>
          <p:cNvPr id="71" name="Text 14"/>
          <p:cNvSpPr/>
          <p:nvPr/>
        </p:nvSpPr>
        <p:spPr>
          <a:xfrm>
            <a:off x="3492754" y="1670050"/>
            <a:ext cx="2560320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H2 -- Signaling Noise</a:t>
            </a:r>
            <a:endParaRPr lang="en-US" sz="1050" dirty="0"/>
          </a:p>
        </p:txBody>
      </p:sp>
      <p:sp>
        <p:nvSpPr>
          <p:cNvPr id="72" name="Text 15"/>
          <p:cNvSpPr/>
          <p:nvPr/>
        </p:nvSpPr>
        <p:spPr>
          <a:xfrm>
            <a:off x="3956939" y="1950212"/>
            <a:ext cx="2560320" cy="182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(contradictory signals)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3392424" y="2308733"/>
            <a:ext cx="2560320" cy="256032"/>
          </a:xfrm>
          <a:prstGeom prst="rect">
            <a:avLst/>
          </a:prstGeom>
          <a:solidFill>
            <a:srgbClr val="FEF3D0"/>
          </a:solidFill>
          <a:ln w="6350">
            <a:solidFill>
              <a:srgbClr val="B07800"/>
            </a:solidFill>
            <a:prstDash val="solid"/>
          </a:ln>
        </p:spPr>
      </p:sp>
      <p:sp>
        <p:nvSpPr>
          <p:cNvPr id="74" name="Text 17"/>
          <p:cNvSpPr/>
          <p:nvPr/>
        </p:nvSpPr>
        <p:spPr>
          <a:xfrm>
            <a:off x="3392424" y="2288413"/>
            <a:ext cx="2560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B078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WEAK / OPPOSITE SIGN</a:t>
            </a:r>
            <a:endParaRPr lang="en-US" sz="950" dirty="0"/>
          </a:p>
        </p:txBody>
      </p:sp>
      <p:sp>
        <p:nvSpPr>
          <p:cNvPr id="75" name="Text 18"/>
          <p:cNvSpPr/>
          <p:nvPr/>
        </p:nvSpPr>
        <p:spPr>
          <a:xfrm>
            <a:off x="3392424" y="2624455"/>
            <a:ext cx="2560320" cy="3474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 = </a:t>
            </a:r>
            <a:r>
              <a:rPr lang="en-US" altLang="en-US" sz="950" b="1" dirty="0">
                <a:solidFill>
                  <a:srgbClr val="1B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−0.0036</a:t>
            </a:r>
            <a:r>
              <a:rPr lang="en-US" sz="950" b="1" dirty="0">
                <a:solidFill>
                  <a:srgbClr val="1B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,  p &lt; 0.089  </a:t>
            </a:r>
            <a:endParaRPr lang="en-US" sz="950" dirty="0"/>
          </a:p>
        </p:txBody>
      </p:sp>
      <p:sp>
        <p:nvSpPr>
          <p:cNvPr id="76" name="Text 19"/>
          <p:cNvSpPr/>
          <p:nvPr/>
        </p:nvSpPr>
        <p:spPr>
          <a:xfrm>
            <a:off x="3392424" y="3031617"/>
            <a:ext cx="2560320" cy="10972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altLang="en-US" sz="950" dirty="0"/>
              <a:t>Mixed signals = no signal: 1-SD more noise narrows the greenium by ~0.36 bp toward zero</a:t>
            </a:r>
            <a:endParaRPr lang="en-US" altLang="en-US" sz="950" dirty="0"/>
          </a:p>
        </p:txBody>
      </p:sp>
      <p:sp>
        <p:nvSpPr>
          <p:cNvPr id="77" name="Shape 20"/>
          <p:cNvSpPr/>
          <p:nvPr/>
        </p:nvSpPr>
        <p:spPr>
          <a:xfrm>
            <a:off x="6163310" y="1405890"/>
            <a:ext cx="2761615" cy="2501265"/>
          </a:xfrm>
          <a:prstGeom prst="rect">
            <a:avLst/>
          </a:prstGeom>
          <a:solidFill>
            <a:schemeClr val="bg2">
              <a:lumMod val="90000"/>
            </a:schemeClr>
          </a:solidFill>
          <a:ln w="6350">
            <a:solidFill>
              <a:srgbClr val="C8D4E0"/>
            </a:solidFill>
            <a:prstDash val="solid"/>
          </a:ln>
        </p:spPr>
      </p:sp>
      <p:sp>
        <p:nvSpPr>
          <p:cNvPr id="79" name="Text 22"/>
          <p:cNvSpPr/>
          <p:nvPr/>
        </p:nvSpPr>
        <p:spPr>
          <a:xfrm>
            <a:off x="6299581" y="1670685"/>
            <a:ext cx="2560320" cy="237744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1A2535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H3 -- Policy Event</a:t>
            </a:r>
            <a:endParaRPr lang="en-US" sz="1050" dirty="0"/>
          </a:p>
        </p:txBody>
      </p:sp>
      <p:sp>
        <p:nvSpPr>
          <p:cNvPr id="80" name="Text 23"/>
          <p:cNvSpPr/>
          <p:nvPr/>
        </p:nvSpPr>
        <p:spPr>
          <a:xfrm>
            <a:off x="6753606" y="1950212"/>
            <a:ext cx="2560320" cy="1828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(JETP / green auction)</a:t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81" name="Shape 24"/>
          <p:cNvSpPr/>
          <p:nvPr/>
        </p:nvSpPr>
        <p:spPr>
          <a:xfrm>
            <a:off x="6299581" y="2308098"/>
            <a:ext cx="2560320" cy="256032"/>
          </a:xfrm>
          <a:prstGeom prst="rect">
            <a:avLst/>
          </a:prstGeom>
          <a:solidFill>
            <a:srgbClr val="D0ECF0"/>
          </a:solidFill>
          <a:ln w="6350">
            <a:solidFill>
              <a:srgbClr val="065F68"/>
            </a:solidFill>
            <a:prstDash val="solid"/>
          </a:ln>
        </p:spPr>
      </p:sp>
      <p:sp>
        <p:nvSpPr>
          <p:cNvPr id="82" name="Text 25"/>
          <p:cNvSpPr/>
          <p:nvPr/>
        </p:nvSpPr>
        <p:spPr>
          <a:xfrm>
            <a:off x="6299581" y="2310638"/>
            <a:ext cx="25603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b="1" dirty="0">
                <a:solidFill>
                  <a:srgbClr val="065F68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PARTLY SUPPORTED</a:t>
            </a:r>
            <a:endParaRPr lang="en-US" sz="950" dirty="0"/>
          </a:p>
        </p:txBody>
      </p:sp>
      <p:sp>
        <p:nvSpPr>
          <p:cNvPr id="83" name="Text 26"/>
          <p:cNvSpPr/>
          <p:nvPr/>
        </p:nvSpPr>
        <p:spPr>
          <a:xfrm>
            <a:off x="6372606" y="3032125"/>
            <a:ext cx="2560320" cy="3474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altLang="en-US" sz="950" dirty="0"/>
              <a:t>Switching from pre- to post-issuance permanently shifts the greenium level by </a:t>
            </a:r>
            <a:endParaRPr lang="en-US" altLang="en-US" sz="95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altLang="en-US" sz="950" dirty="0">
                <a:sym typeface="+mn-ea"/>
              </a:rPr>
              <a:t> ~</a:t>
            </a:r>
            <a:r>
              <a:rPr lang="en-US" altLang="en-US" sz="950" dirty="0"/>
              <a:t>2.95 bp</a:t>
            </a:r>
            <a:endParaRPr lang="en-US" altLang="en-US" sz="950" dirty="0"/>
          </a:p>
        </p:txBody>
      </p:sp>
      <p:sp>
        <p:nvSpPr>
          <p:cNvPr id="84" name="Text 27"/>
          <p:cNvSpPr/>
          <p:nvPr/>
        </p:nvSpPr>
        <p:spPr>
          <a:xfrm>
            <a:off x="6299581" y="2991612"/>
            <a:ext cx="2560320" cy="109728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5000"/>
              </a:lnSpc>
              <a:buNone/>
            </a:pPr>
            <a:endParaRPr lang="en-US" sz="950" dirty="0"/>
          </a:p>
        </p:txBody>
      </p:sp>
      <p:sp>
        <p:nvSpPr>
          <p:cNvPr id="27" name="Text 3"/>
          <p:cNvSpPr/>
          <p:nvPr/>
        </p:nvSpPr>
        <p:spPr>
          <a:xfrm>
            <a:off x="-254" y="18415"/>
            <a:ext cx="121066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RESULTS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2" name="Text 18"/>
          <p:cNvSpPr/>
          <p:nvPr/>
        </p:nvSpPr>
        <p:spPr>
          <a:xfrm>
            <a:off x="6373114" y="2624455"/>
            <a:ext cx="2560320" cy="34747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1B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 = -0.0295,  p &lt; 0.373  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732520" y="4773168"/>
            <a:ext cx="365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4592" y="502920"/>
            <a:ext cx="8823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0F6FC"/>
                </a:solidFill>
              </a:rPr>
              <a:t>Standard Error Robustness</a:t>
            </a:r>
            <a:endParaRPr lang="en-US" sz="2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1261872"/>
            <a:ext cx="8823960" cy="3200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64592" y="4553712"/>
            <a:ext cx="882396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74320" y="4590288"/>
            <a:ext cx="8549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2CB"/>
                </a:solidFill>
              </a:rPr>
              <a:t>Asia Post (H3): </a:t>
            </a:r>
            <a:r>
              <a:rPr lang="en-US" sz="1000" dirty="0">
                <a:solidFill>
                  <a:srgbClr val="8B949E"/>
                </a:solidFill>
              </a:rPr>
              <a:t>β=−0.0295, n.s. under HC3 and PCSE, *** under cluster (country-level clustering inflates significance — treat with caution).  </a:t>
            </a:r>
            <a:endParaRPr lang="en-US" sz="1000" dirty="0">
              <a:solidFill>
                <a:srgbClr val="8B949E"/>
              </a:solidFill>
            </a:endParaRPr>
          </a:p>
          <a:p>
            <a:pPr marL="0" indent="0">
              <a:buNone/>
            </a:pPr>
            <a:r>
              <a:rPr lang="en-US" sz="1000" b="1" dirty="0">
                <a:solidFill>
                  <a:srgbClr val="2EA44F"/>
                </a:solidFill>
              </a:rPr>
              <a:t>Europe Post (H3): </a:t>
            </a:r>
            <a:r>
              <a:rPr lang="en-US" sz="1000" dirty="0">
                <a:solidFill>
                  <a:srgbClr val="8B949E"/>
                </a:solidFill>
              </a:rPr>
              <a:t>β=−0.0576, ** HC3 · *** Cluster · *** PCSE → robust finding across all three specifications.</a:t>
            </a:r>
            <a:endParaRPr lang="en-US" sz="1000" dirty="0"/>
          </a:p>
        </p:txBody>
      </p:sp>
      <p:sp>
        <p:nvSpPr>
          <p:cNvPr id="27" name="Text 3"/>
          <p:cNvSpPr/>
          <p:nvPr/>
        </p:nvSpPr>
        <p:spPr>
          <a:xfrm>
            <a:off x="-254" y="18415"/>
            <a:ext cx="121066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ROBUSTNESS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0"/>
          <p:cNvSpPr/>
          <p:nvPr/>
        </p:nvSpPr>
        <p:spPr>
          <a:xfrm>
            <a:off x="8321040" y="164592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A8FA6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endParaRPr lang="en-US" sz="1000" dirty="0"/>
          </a:p>
        </p:txBody>
      </p:sp>
      <p:sp>
        <p:nvSpPr>
          <p:cNvPr id="12" name="Text 1"/>
          <p:cNvSpPr/>
          <p:nvPr/>
        </p:nvSpPr>
        <p:spPr>
          <a:xfrm>
            <a:off x="133350" y="18542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850" kern="0" spc="100" dirty="0">
              <a:solidFill>
                <a:schemeClr val="bg1"/>
              </a:solidFill>
              <a:latin typeface="+mn-ea"/>
              <a:ea typeface="Calibri" panose="020F0502020204030204" pitchFamily="34" charset="-122"/>
              <a:cs typeface="+mn-ea"/>
            </a:endParaRPr>
          </a:p>
        </p:txBody>
      </p:sp>
      <p:sp>
        <p:nvSpPr>
          <p:cNvPr id="13" name="Text 2"/>
          <p:cNvSpPr/>
          <p:nvPr/>
        </p:nvSpPr>
        <p:spPr>
          <a:xfrm>
            <a:off x="365760" y="502920"/>
            <a:ext cx="8412480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What can Asia learn from Europe?</a:t>
            </a:r>
            <a:endParaRPr lang="en-US" sz="2600" dirty="0"/>
          </a:p>
        </p:txBody>
      </p:sp>
      <p:sp>
        <p:nvSpPr>
          <p:cNvPr id="14" name="Shape 3"/>
          <p:cNvSpPr/>
          <p:nvPr/>
        </p:nvSpPr>
        <p:spPr>
          <a:xfrm>
            <a:off x="365760" y="1417320"/>
            <a:ext cx="3931920" cy="3520440"/>
          </a:xfrm>
          <a:prstGeom prst="rect">
            <a:avLst/>
          </a:prstGeom>
          <a:solidFill>
            <a:srgbClr val="162332"/>
          </a:solidFill>
          <a:ln w="12700">
            <a:solidFill>
              <a:srgbClr val="1E3045"/>
            </a:solidFill>
            <a:prstDash val="solid"/>
          </a:ln>
          <a:effectLst>
            <a:outerShdw blurRad="88900" dist="254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5" name="Text 4"/>
          <p:cNvSpPr/>
          <p:nvPr/>
        </p:nvSpPr>
        <p:spPr>
          <a:xfrm>
            <a:off x="548640" y="15361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83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Asia — what we found</a:t>
            </a:r>
            <a:endParaRPr lang="en-US" sz="1200" dirty="0"/>
          </a:p>
        </p:txBody>
      </p:sp>
      <p:sp>
        <p:nvSpPr>
          <p:cNvPr id="16" name="Text 5"/>
          <p:cNvSpPr/>
          <p:nvPr/>
        </p:nvSpPr>
        <p:spPr>
          <a:xfrm>
            <a:off x="548640" y="1901952"/>
            <a:ext cx="356616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Green bond prices do not respond to political speeches </a:t>
            </a:r>
            <a:endParaRPr lang="en-US" sz="1250" dirty="0"/>
          </a:p>
        </p:txBody>
      </p:sp>
      <p:sp>
        <p:nvSpPr>
          <p:cNvPr id="17" name="Shape 6"/>
          <p:cNvSpPr/>
          <p:nvPr/>
        </p:nvSpPr>
        <p:spPr>
          <a:xfrm>
            <a:off x="548640" y="2788920"/>
            <a:ext cx="3383280" cy="0"/>
          </a:xfrm>
          <a:prstGeom prst="line">
            <a:avLst/>
          </a:prstGeom>
          <a:noFill/>
          <a:ln w="6350">
            <a:solidFill>
              <a:srgbClr val="1E3045"/>
            </a:solidFill>
            <a:prstDash val="solid"/>
          </a:ln>
        </p:spPr>
      </p:sp>
      <p:sp>
        <p:nvSpPr>
          <p:cNvPr id="18" name="Text 7"/>
          <p:cNvSpPr/>
          <p:nvPr/>
        </p:nvSpPr>
        <p:spPr>
          <a:xfrm>
            <a:off x="548640" y="29077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9E8A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Europe — for comparison</a:t>
            </a:r>
            <a:endParaRPr lang="en-US" sz="1200" dirty="0"/>
          </a:p>
        </p:txBody>
      </p:sp>
      <p:sp>
        <p:nvSpPr>
          <p:cNvPr id="19" name="Text 8"/>
          <p:cNvSpPr/>
          <p:nvPr/>
        </p:nvSpPr>
        <p:spPr>
          <a:xfrm>
            <a:off x="548640" y="3273552"/>
            <a:ext cx="356616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When Germany committed to a PERMANENT annual green bond programme, investors responded — greenium compressed by 5.8bp. Rhetoric alone did nothing.</a:t>
            </a:r>
            <a:endParaRPr lang="en-US" sz="1250" dirty="0"/>
          </a:p>
        </p:txBody>
      </p:sp>
      <p:sp>
        <p:nvSpPr>
          <p:cNvPr id="21" name="Shape 10"/>
          <p:cNvSpPr/>
          <p:nvPr/>
        </p:nvSpPr>
        <p:spPr>
          <a:xfrm>
            <a:off x="4480560" y="1417320"/>
            <a:ext cx="4343400" cy="3520440"/>
          </a:xfrm>
          <a:prstGeom prst="rect">
            <a:avLst/>
          </a:prstGeom>
          <a:solidFill>
            <a:srgbClr val="162332"/>
          </a:solidFill>
          <a:ln w="25400">
            <a:solidFill>
              <a:srgbClr val="E8A020"/>
            </a:solidFill>
            <a:prstDash val="solid"/>
          </a:ln>
          <a:effectLst>
            <a:outerShdw blurRad="88900" dist="254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22" name="Text 11"/>
          <p:cNvSpPr/>
          <p:nvPr/>
        </p:nvSpPr>
        <p:spPr>
          <a:xfrm>
            <a:off x="4663440" y="1536192"/>
            <a:ext cx="39776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Policy lesson for India &amp; Indonesia</a:t>
            </a:r>
            <a:endParaRPr lang="en-US" sz="1200" dirty="0"/>
          </a:p>
        </p:txBody>
      </p:sp>
      <p:sp>
        <p:nvSpPr>
          <p:cNvPr id="23" name="Shape 12"/>
          <p:cNvSpPr/>
          <p:nvPr/>
        </p:nvSpPr>
        <p:spPr>
          <a:xfrm>
            <a:off x="4663440" y="1938528"/>
            <a:ext cx="320040" cy="320040"/>
          </a:xfrm>
          <a:prstGeom prst="rect">
            <a:avLst/>
          </a:prstGeom>
          <a:solidFill>
            <a:srgbClr val="E8A020"/>
          </a:solidFill>
        </p:spPr>
      </p:sp>
      <p:sp>
        <p:nvSpPr>
          <p:cNvPr id="24" name="Text 13"/>
          <p:cNvSpPr/>
          <p:nvPr/>
        </p:nvSpPr>
        <p:spPr>
          <a:xfrm>
            <a:off x="4663440" y="193852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Text 14"/>
          <p:cNvSpPr/>
          <p:nvPr/>
        </p:nvSpPr>
        <p:spPr>
          <a:xfrm>
            <a:off x="5074920" y="1956816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200" dirty="0">
                <a:solidFill>
                  <a:schemeClr val="bg1"/>
                </a:solidFill>
              </a:rPr>
              <a:t>Legally-Binding CapEx Transition Plans</a:t>
            </a:r>
            <a:endParaRPr lang="en-US" altLang="en-US" sz="1200" dirty="0">
              <a:solidFill>
                <a:schemeClr val="bg1"/>
              </a:solidFill>
            </a:endParaRPr>
          </a:p>
        </p:txBody>
      </p:sp>
      <p:sp>
        <p:nvSpPr>
          <p:cNvPr id="26" name="Text 15"/>
          <p:cNvSpPr/>
          <p:nvPr/>
        </p:nvSpPr>
        <p:spPr>
          <a:xfrm>
            <a:off x="5074920" y="225856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Don't just promise to go green — publish a legally binding, audited timeline showing exactly when each coal plant closes.</a:t>
            </a:r>
            <a:endParaRPr lang="en-US" altLang="en-US" sz="1100" dirty="0">
              <a:solidFill>
                <a:schemeClr val="bg2"/>
              </a:solidFill>
            </a:endParaRPr>
          </a:p>
        </p:txBody>
      </p:sp>
      <p:sp>
        <p:nvSpPr>
          <p:cNvPr id="27" name="Shape 16"/>
          <p:cNvSpPr/>
          <p:nvPr/>
        </p:nvSpPr>
        <p:spPr>
          <a:xfrm>
            <a:off x="4663440" y="2898648"/>
            <a:ext cx="320040" cy="320040"/>
          </a:xfrm>
          <a:prstGeom prst="rect">
            <a:avLst/>
          </a:prstGeom>
          <a:solidFill>
            <a:srgbClr val="E8A020"/>
          </a:solidFill>
        </p:spPr>
      </p:sp>
      <p:sp>
        <p:nvSpPr>
          <p:cNvPr id="28" name="Text 17"/>
          <p:cNvSpPr/>
          <p:nvPr/>
        </p:nvSpPr>
        <p:spPr>
          <a:xfrm>
            <a:off x="4663440" y="289864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18"/>
          <p:cNvSpPr/>
          <p:nvPr/>
        </p:nvSpPr>
        <p:spPr>
          <a:xfrm>
            <a:off x="5074920" y="2916936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200" dirty="0">
                <a:solidFill>
                  <a:schemeClr val="bg1"/>
                </a:solidFill>
              </a:rPr>
              <a:t>"Do No Significant Harm" Screening</a:t>
            </a:r>
            <a:endParaRPr lang="en-US" altLang="en-US" sz="1200" dirty="0">
              <a:solidFill>
                <a:schemeClr val="bg1"/>
              </a:solidFill>
            </a:endParaRPr>
          </a:p>
        </p:txBody>
      </p:sp>
      <p:sp>
        <p:nvSpPr>
          <p:cNvPr id="30" name="Text 19"/>
          <p:cNvSpPr/>
          <p:nvPr/>
        </p:nvSpPr>
        <p:spPr>
          <a:xfrm>
            <a:off x="5074920" y="321868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Certify that green bond money isn't funding projects that fix one environmental problem while creating another.</a:t>
            </a:r>
            <a:endParaRPr lang="en-US" altLang="en-US" sz="1100" dirty="0">
              <a:solidFill>
                <a:schemeClr val="bg2"/>
              </a:solidFill>
            </a:endParaRPr>
          </a:p>
        </p:txBody>
      </p:sp>
      <p:sp>
        <p:nvSpPr>
          <p:cNvPr id="31" name="Shape 20"/>
          <p:cNvSpPr/>
          <p:nvPr/>
        </p:nvSpPr>
        <p:spPr>
          <a:xfrm>
            <a:off x="4663440" y="3858768"/>
            <a:ext cx="320040" cy="320040"/>
          </a:xfrm>
          <a:prstGeom prst="rect">
            <a:avLst/>
          </a:prstGeom>
          <a:solidFill>
            <a:srgbClr val="E8A020"/>
          </a:solidFill>
        </p:spPr>
      </p:sp>
      <p:sp>
        <p:nvSpPr>
          <p:cNvPr id="32" name="Text 21"/>
          <p:cNvSpPr/>
          <p:nvPr/>
        </p:nvSpPr>
        <p:spPr>
          <a:xfrm>
            <a:off x="4663440" y="3858768"/>
            <a:ext cx="320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2"/>
          <p:cNvSpPr/>
          <p:nvPr/>
        </p:nvSpPr>
        <p:spPr>
          <a:xfrm>
            <a:off x="5074920" y="3877056"/>
            <a:ext cx="3611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200" dirty="0">
                <a:solidFill>
                  <a:schemeClr val="bg1"/>
                </a:solidFill>
              </a:rPr>
              <a:t> Independent Reviewer Registry</a:t>
            </a:r>
            <a:endParaRPr lang="en-US" altLang="en-US" sz="1200" dirty="0">
              <a:solidFill>
                <a:schemeClr val="bg1"/>
              </a:solidFill>
            </a:endParaRPr>
          </a:p>
        </p:txBody>
      </p:sp>
      <p:sp>
        <p:nvSpPr>
          <p:cNvPr id="34" name="Text 23"/>
          <p:cNvSpPr/>
          <p:nvPr/>
        </p:nvSpPr>
        <p:spPr>
          <a:xfrm>
            <a:off x="5074920" y="4178808"/>
            <a:ext cx="36118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100" dirty="0">
                <a:solidFill>
                  <a:schemeClr val="bg2"/>
                </a:solidFill>
              </a:rPr>
              <a:t>Make green bond auditors government-licensed and legally accountable — so investors trust the label, not just the promise.</a:t>
            </a:r>
            <a:endParaRPr lang="en-US" altLang="en-US" sz="1100" dirty="0">
              <a:solidFill>
                <a:schemeClr val="bg2"/>
              </a:solidFill>
            </a:endParaRPr>
          </a:p>
        </p:txBody>
      </p:sp>
      <p:sp>
        <p:nvSpPr>
          <p:cNvPr id="2" name="Text 3"/>
          <p:cNvSpPr/>
          <p:nvPr/>
        </p:nvSpPr>
        <p:spPr>
          <a:xfrm>
            <a:off x="133096" y="36830"/>
            <a:ext cx="121066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POLICY COMPARISON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65760" y="1258570"/>
            <a:ext cx="8412480" cy="1021080"/>
          </a:xfrm>
          <a:prstGeom prst="rect">
            <a:avLst/>
          </a:prstGeom>
          <a:solidFill>
            <a:srgbClr val="162332"/>
          </a:solidFill>
          <a:ln w="12700">
            <a:solidFill>
              <a:srgbClr val="1E3045"/>
            </a:solidFill>
            <a:prstDash val="solid"/>
          </a:ln>
          <a:effectLst>
            <a:outerShdw blurRad="88900" dist="254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40512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8A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What gap does this fill?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541780"/>
            <a:ext cx="8046720" cy="7239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bg1"/>
                </a:solidFill>
              </a:rPr>
              <a:t>High Frequency causal evidence on Greenium dynamics in Asian Emerging Markets 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365760" y="2435860"/>
            <a:ext cx="8412480" cy="1214120"/>
          </a:xfrm>
          <a:prstGeom prst="rect">
            <a:avLst/>
          </a:prstGeom>
          <a:solidFill>
            <a:srgbClr val="162332"/>
          </a:solidFill>
          <a:ln w="12700">
            <a:solidFill>
              <a:srgbClr val="1E3045"/>
            </a:solidFill>
            <a:prstDash val="solid"/>
          </a:ln>
          <a:effectLst>
            <a:outerShdw blurRad="88900" dist="254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64511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8A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What did I do?</a:t>
            </a:r>
            <a:endParaRPr lang="en-US" sz="1100" dirty="0"/>
          </a:p>
        </p:txBody>
      </p:sp>
      <p:sp>
        <p:nvSpPr>
          <p:cNvPr id="35" name="Text 9"/>
          <p:cNvSpPr/>
          <p:nvPr/>
        </p:nvSpPr>
        <p:spPr>
          <a:xfrm>
            <a:off x="548640" y="2762123"/>
            <a:ext cx="80467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Compared green vs conventional bonds daily across 2 countries, 6 bond pairs (2020–2026). Used stacked DiD to handle multiple treatment dates. Tested three statistical methods to confirm results.</a:t>
            </a:r>
            <a:endParaRPr lang="en-US" sz="1300" dirty="0"/>
          </a:p>
        </p:txBody>
      </p:sp>
      <p:sp>
        <p:nvSpPr>
          <p:cNvPr id="36" name="Shape 10"/>
          <p:cNvSpPr/>
          <p:nvPr/>
        </p:nvSpPr>
        <p:spPr>
          <a:xfrm>
            <a:off x="365760" y="3805555"/>
            <a:ext cx="8412480" cy="1032510"/>
          </a:xfrm>
          <a:prstGeom prst="rect">
            <a:avLst/>
          </a:prstGeom>
          <a:solidFill>
            <a:srgbClr val="162332"/>
          </a:solidFill>
          <a:ln w="12700">
            <a:solidFill>
              <a:srgbClr val="1E3045"/>
            </a:solidFill>
            <a:prstDash val="solid"/>
          </a:ln>
          <a:effectLst>
            <a:outerShdw blurRad="88900" dist="25400" dir="8100000" algn="bl" rotWithShape="0">
              <a:srgbClr val="000000">
                <a:alpha val="16000"/>
              </a:srgbClr>
            </a:outerShdw>
          </a:effectLst>
        </p:spPr>
      </p:sp>
      <p:sp>
        <p:nvSpPr>
          <p:cNvPr id="38" name="Text 12"/>
          <p:cNvSpPr/>
          <p:nvPr/>
        </p:nvSpPr>
        <p:spPr>
          <a:xfrm>
            <a:off x="548640" y="3851529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8A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What did we find?</a:t>
            </a:r>
            <a:endParaRPr lang="en-US" sz="1100" dirty="0"/>
          </a:p>
        </p:txBody>
      </p:sp>
      <p:sp>
        <p:nvSpPr>
          <p:cNvPr id="39" name="Text 13"/>
          <p:cNvSpPr/>
          <p:nvPr/>
        </p:nvSpPr>
        <p:spPr>
          <a:xfrm>
            <a:off x="548640" y="4041521"/>
            <a:ext cx="8046720" cy="8046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300" dirty="0">
                <a:solidFill>
                  <a:schemeClr val="bg1"/>
                </a:solidFill>
              </a:rPr>
              <a:t>When governments say "green," markets don't listen. When they build institutions, markets do</a:t>
            </a:r>
            <a:endParaRPr lang="en-US" altLang="en-US" sz="1300" dirty="0">
              <a:solidFill>
                <a:schemeClr val="bg1"/>
              </a:solidFill>
            </a:endParaRPr>
          </a:p>
        </p:txBody>
      </p:sp>
      <p:sp>
        <p:nvSpPr>
          <p:cNvPr id="40" name="Text 14"/>
          <p:cNvSpPr/>
          <p:nvPr/>
        </p:nvSpPr>
        <p:spPr>
          <a:xfrm>
            <a:off x="365760" y="629285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Political credibility is a fiscal variable </a:t>
            </a:r>
            <a:endParaRPr lang="en-US" sz="2000" dirty="0">
              <a:solidFill>
                <a:schemeClr val="bg1"/>
              </a:solidFill>
              <a:latin typeface="Calibri" panose="020F050202020403020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3"/>
          <p:cNvSpPr/>
          <p:nvPr/>
        </p:nvSpPr>
        <p:spPr>
          <a:xfrm>
            <a:off x="-254" y="18415"/>
            <a:ext cx="121066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chemeClr val="bg1"/>
                </a:solidFill>
              </a:rPr>
              <a:t>CONCLUSION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82880"/>
            <a:ext cx="1042416" cy="237744"/>
          </a:xfrm>
          <a:prstGeom prst="rect">
            <a:avLst/>
          </a:prstGeom>
          <a:solidFill>
            <a:srgbClr val="6E7681">
              <a:alpha val="18000"/>
            </a:srgbClr>
          </a:solidFill>
          <a:ln w="19050">
            <a:solidFill>
              <a:srgbClr val="6E76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3736" y="182880"/>
            <a:ext cx="104241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E7681"/>
                </a:solidFill>
              </a:rPr>
              <a:t>APPENDIX 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4592" y="502920"/>
            <a:ext cx="8823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6FC"/>
                </a:solidFill>
              </a:rPr>
              <a:t>All 8 Bond Pairs — Full Detail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164592" y="1188720"/>
          <a:ext cx="8823960" cy="3520440"/>
        </p:xfrm>
        <a:graphic>
          <a:graphicData uri="http://schemas.openxmlformats.org/drawingml/2006/table">
            <a:tbl>
              <a:tblPr/>
              <a:tblGrid>
                <a:gridCol w="1828800"/>
                <a:gridCol w="1554480"/>
                <a:gridCol w="1554480"/>
                <a:gridCol w="914400"/>
                <a:gridCol w="1325880"/>
                <a:gridCol w="1417320"/>
              </a:tblGrid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Country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Green ISIN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Conv. ISIN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Currency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Treatment Date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Mean Greenium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8712A"/>
                          </a:solidFill>
                        </a:rPr>
                        <a:t>India 10Y-orig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IN0020220144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IN0020190362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25-Jan-2023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+13.8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8712A"/>
                          </a:solidFill>
                        </a:rPr>
                        <a:t>India 5Y-orig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IN0020230143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IN072629G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25-Jan-2023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−0.0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8712A"/>
                          </a:solidFill>
                        </a:rPr>
                        <a:t>India 10Y-new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IN072933G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IN072632G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25-Jan-2023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−1.4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8712A"/>
                          </a:solidFill>
                        </a:rPr>
                        <a:t>India 5Y-new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IN071028G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IN071029G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INR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25-Jan-2023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−9.2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00C2CB"/>
                          </a:solidFill>
                        </a:rPr>
                        <a:t>Indonesia 10Y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US71567RAV87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US455780DN36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USD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15-Nov-2022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−5.5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00C2CB"/>
                          </a:solidFill>
                        </a:rPr>
                        <a:t>Indonesia 2033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US71567RAY27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US455780DR40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USD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15-Nov-2022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+5.5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58A6FF"/>
                          </a:solidFill>
                        </a:rPr>
                        <a:t>Germany 10Y ★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DE0001030708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DE0001102507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EUR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2-Sep-2020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−1.8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91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8C42"/>
                          </a:solidFill>
                        </a:rPr>
                        <a:t>Denmark 10Y ★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DK0009924375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DK0009924102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DKK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8B949E"/>
                          </a:solidFill>
                        </a:rPr>
                        <a:t>21-Jan-2022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8B949E"/>
                          </a:solidFill>
                        </a:rPr>
                        <a:t>−2.7 bp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64592" y="4800600"/>
            <a:ext cx="882396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681"/>
                </a:solidFill>
              </a:rPr>
              <a:t>★ Strict twin-bond: identical coupon + maturity  ·  Source: Refinitiv Eikon  ·  Mean greenium over full sample period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82880"/>
            <a:ext cx="1042416" cy="237744"/>
          </a:xfrm>
          <a:prstGeom prst="rect">
            <a:avLst/>
          </a:prstGeom>
          <a:solidFill>
            <a:srgbClr val="6E7681">
              <a:alpha val="18000"/>
            </a:srgbClr>
          </a:solidFill>
          <a:ln w="19050">
            <a:solidFill>
              <a:srgbClr val="6E76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3736" y="182880"/>
            <a:ext cx="104241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E7681"/>
                </a:solidFill>
              </a:rPr>
              <a:t>APPENDIX B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4592" y="502920"/>
            <a:ext cx="8823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6FC"/>
                </a:solidFill>
              </a:rPr>
              <a:t>Full Regression Table M1–M5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/>
        </p:nvGraphicFramePr>
        <p:xfrm>
          <a:off x="164592" y="1143000"/>
          <a:ext cx="8823960" cy="3703320"/>
        </p:xfrm>
        <a:graphic>
          <a:graphicData uri="http://schemas.openxmlformats.org/drawingml/2006/table">
            <a:tbl>
              <a:tblPr/>
              <a:tblGrid>
                <a:gridCol w="2194560"/>
                <a:gridCol w="960120"/>
                <a:gridCol w="960120"/>
                <a:gridCol w="960120"/>
                <a:gridCol w="960120"/>
                <a:gridCol w="1005840"/>
                <a:gridCol w="960120"/>
              </a:tblGrid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Variable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M1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M2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M3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M4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M5 Asia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0F6FC"/>
                          </a:solidFill>
                        </a:rPr>
                        <a:t>M5 Europe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ΔSentiment (H1)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ΔSignaling Noise (H2)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  <a:sym typeface="+mn-ea"/>
                        </a:rPr>
                        <a:t>—</a:t>
                      </a:r>
                      <a:endParaRPr lang="en-US" altLang="en-US" sz="900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ΔNoise × ΔSentiment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D700"/>
                          </a:solidFill>
                        </a:rPr>
                        <a:t>+0.0018*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Δlog(VIX)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−0.0021*</a:t>
                      </a:r>
                      <a:endParaRPr lang="en-US" sz="900" b="1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−0.0021*</a:t>
                      </a:r>
                      <a:endParaRPr lang="en-US" sz="900" b="1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−0.0020*</a:t>
                      </a:r>
                      <a:endParaRPr lang="en-US" sz="900" b="1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chemeClr val="bg1">
                              <a:lumMod val="85000"/>
                            </a:schemeClr>
                          </a:solidFill>
                        </a:rPr>
                        <a:t>−0.0022**</a:t>
                      </a:r>
                      <a:endParaRPr lang="en-US" sz="900" b="1" dirty="0">
                        <a:solidFill>
                          <a:schemeClr val="bg1">
                            <a:lumMod val="85000"/>
                          </a:schemeClr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ΔCDS Spread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−0.0015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−0.0015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−0.0014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−0.0017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−0.0001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Δlog(FX Rate)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+0.0002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−0.0002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Post Treatment (H3)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8B949E"/>
                          </a:solidFill>
                        </a:rPr>
                        <a:t>−0.0295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D700"/>
                          </a:solidFill>
                        </a:rPr>
                        <a:t>−0.0576**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N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2,221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2,221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2,221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2,221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2,221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2,482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0F6FC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0.000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0.004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0.004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0.005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0.013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6E7681"/>
                          </a:solidFill>
                        </a:rPr>
                        <a:t>0.009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1262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164592" y="4919472"/>
            <a:ext cx="882396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E7681"/>
                </a:solidFill>
              </a:rPr>
              <a:t>* p&lt;0.10  ** p&lt;0.05  *** p&lt;0.01  |  HC3 robust SE  |  First-differenced within pair  |  Pair FE: M1–M5  |  Monthly time FE: M5 only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0292" cy="5143500"/>
          </a:xfrm>
          <a:prstGeom prst="rect">
            <a:avLst/>
          </a:prstGeom>
          <a:solidFill>
            <a:srgbClr val="00C2CB"/>
          </a:solidFill>
          <a:ln w="12700">
            <a:solidFill>
              <a:srgbClr val="00C2C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82880"/>
            <a:ext cx="1042416" cy="237744"/>
          </a:xfrm>
          <a:prstGeom prst="rect">
            <a:avLst/>
          </a:prstGeom>
          <a:solidFill>
            <a:srgbClr val="6E7681">
              <a:alpha val="18000"/>
            </a:srgbClr>
          </a:solidFill>
          <a:ln w="19050">
            <a:solidFill>
              <a:srgbClr val="6E76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3736" y="182880"/>
            <a:ext cx="1042416" cy="237744"/>
          </a:xfrm>
          <a:prstGeom prst="rect">
            <a:avLst/>
          </a:prstGeom>
          <a:noFill/>
        </p:spPr>
        <p:txBody>
          <a:bodyPr wrap="square" lIns="12700" tIns="12700" rIns="12700" bIns="1270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6E7681"/>
                </a:solidFill>
              </a:rPr>
              <a:t>APPENDIX C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64592" y="502920"/>
            <a:ext cx="8823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0F6FC"/>
                </a:solidFill>
              </a:rPr>
              <a:t>ClimateBERT — Why V2Tone is Primary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" y="914400"/>
            <a:ext cx="882396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949E"/>
                </a:solidFill>
              </a:rPr>
              <a:t>Domain-specific NLP validates but cannot replace V2Tone in this context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" y="1261872"/>
            <a:ext cx="4315968" cy="2212848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152" y="1261872"/>
            <a:ext cx="4315968" cy="22128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64592" y="3566160"/>
            <a:ext cx="8823960" cy="1463040"/>
          </a:xfrm>
          <a:prstGeom prst="rect">
            <a:avLst/>
          </a:prstGeom>
          <a:solidFill>
            <a:srgbClr val="161B22"/>
          </a:solidFill>
          <a:ln w="12700">
            <a:solidFill>
              <a:srgbClr val="21262D"/>
            </a:solidFill>
            <a:prstDash val="solid"/>
          </a:ln>
          <a:effectLst>
            <a:outerShdw blurRad="127000" dist="38100" dir="81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64592" y="3566160"/>
            <a:ext cx="45720" cy="1463040"/>
          </a:xfrm>
          <a:prstGeom prst="rect">
            <a:avLst/>
          </a:prstGeom>
          <a:solidFill>
            <a:srgbClr val="6E7681"/>
          </a:solidFill>
          <a:ln w="12700">
            <a:solidFill>
              <a:srgbClr val="6E7681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92608" y="3931920"/>
            <a:ext cx="8503920" cy="10241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0F6FC"/>
                </a:solidFill>
              </a:rPr>
              <a:t>Coverage: </a:t>
            </a:r>
            <a:r>
              <a:rPr lang="en-US" sz="1000" dirty="0">
                <a:solidFill>
                  <a:srgbClr val="8B949E"/>
                </a:solidFill>
              </a:rPr>
              <a:t>Only 22 of 2,221 observations (1%) have ClimateBERT-scored headlines — too sparse for reliable inference.
</a:t>
            </a:r>
            <a:r>
              <a:rPr lang="en-US" sz="1000" b="1" dirty="0">
                <a:solidFill>
                  <a:srgbClr val="F0F6FC"/>
                </a:solidFill>
              </a:rPr>
              <a:t>Input mismatch: </a:t>
            </a:r>
            <a:r>
              <a:rPr lang="en-US" sz="1000" dirty="0">
                <a:solidFill>
                  <a:srgbClr val="8B949E"/>
                </a:solidFill>
              </a:rPr>
              <a:t>ClimateBERT is designed for natural language prose. GDELT theme codes (e.g. CLIMATE_CHANGE; ENV_NUCLEAR) are structured tags, not sentences — the model is misspecified for this input.
</a:t>
            </a:r>
            <a:r>
              <a:rPr lang="en-US" sz="1000" b="1" dirty="0">
                <a:solidFill>
                  <a:srgbClr val="F0F6FC"/>
                </a:solidFill>
              </a:rPr>
              <a:t>Correlation: </a:t>
            </a:r>
            <a:r>
              <a:rPr lang="en-US" sz="1000" dirty="0">
                <a:solidFill>
                  <a:srgbClr val="8B949E"/>
                </a:solidFill>
              </a:rPr>
              <a:t>India r=+0.37 (weak), Indonesia r=−0.18 (near zero vs V2Tone). V2Tone confirmed as primary variable.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6218</Words>
  <Application>WPS Presentation</Application>
  <PresentationFormat>On-screen Show (16:9)</PresentationFormat>
  <Paragraphs>469</Paragraphs>
  <Slides>11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11</vt:i4>
      </vt:variant>
    </vt:vector>
  </HeadingPairs>
  <TitlesOfParts>
    <vt:vector size="31" baseType="lpstr">
      <vt:lpstr>Arial</vt:lpstr>
      <vt:lpstr>SimSun</vt:lpstr>
      <vt:lpstr>Wingdings</vt:lpstr>
      <vt:lpstr>Open Sans</vt:lpstr>
      <vt:lpstr>Segoe Print</vt:lpstr>
      <vt:lpstr>Calibri</vt:lpstr>
      <vt:lpstr>Calibri</vt:lpstr>
      <vt:lpstr>Calibri</vt:lpstr>
      <vt:lpstr>Arial</vt:lpstr>
      <vt:lpstr>Consolas</vt:lpstr>
      <vt:lpstr>Consolas</vt:lpstr>
      <vt:lpstr>Consolas</vt:lpstr>
      <vt:lpstr>Georgia</vt:lpstr>
      <vt:lpstr>Georgia</vt:lpstr>
      <vt:lpstr>Georgia</vt:lpstr>
      <vt:lpstr>Calibri Light</vt:lpstr>
      <vt:lpstr>Microsoft YaHei</vt:lpstr>
      <vt:lpstr>Arial Unicode MS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 Politicians Words Have a Dollar Value?</dc:title>
  <dc:creator>Nahian Ibnat</dc:creator>
  <dc:subject>PptxGenJS Presentation</dc:subject>
  <cp:lastModifiedBy>Nahian</cp:lastModifiedBy>
  <cp:revision>9</cp:revision>
  <dcterms:created xsi:type="dcterms:W3CDTF">2026-05-19T18:41:00Z</dcterms:created>
  <dcterms:modified xsi:type="dcterms:W3CDTF">2026-05-20T03:16:11Z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695A610C8E5C4EFEA8E538B62F31C605_13</vt:lpwstr>
  </property>
  <property fmtid="{D5CDD505-2E9C-101B-9397-08002B2CF9AE}" pid="3" name="KSOProductBuildVer">
    <vt:lpwstr>1033-12.1.0.26372</vt:lpwstr>
  </property>
</Properties>
</file>